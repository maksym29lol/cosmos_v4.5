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00" y="-914400"/>
            <a:ext cx="6400800" cy="4572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645920"/>
            <a:ext cx="1280160" cy="12801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371600" y="14173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7200" dirty="0"/>
          </a:p>
        </p:txBody>
      </p:sp>
      <p:sp>
        <p:nvSpPr>
          <p:cNvPr id="8" name="Shape 2"/>
          <p:cNvSpPr/>
          <p:nvPr/>
        </p:nvSpPr>
        <p:spPr>
          <a:xfrm>
            <a:off x="1371600" y="2423160"/>
            <a:ext cx="4114800" cy="2286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5486400" y="2423160"/>
            <a:ext cx="1828800" cy="228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1371600" y="2606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500" kern="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Космічний Провідник</a:t>
            </a:r>
            <a:endParaRPr lang="en-US" sz="2000" dirty="0"/>
          </a:p>
        </p:txBody>
      </p:sp>
      <p:sp>
        <p:nvSpPr>
          <p:cNvPr id="11" name="Shape 5"/>
          <p:cNvSpPr/>
          <p:nvPr/>
        </p:nvSpPr>
        <p:spPr>
          <a:xfrm>
            <a:off x="1371600" y="3108960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00D2FF">
              <a:alpha val="25000"/>
            </a:srgbClr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1371600" y="3108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v4.5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371600" y="3456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Еволюція від мрії до легенди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834640"/>
            <a:ext cx="822960" cy="8229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· 2024–2025</a:t>
            </a:r>
            <a:endParaRPr lang="en-US" sz="8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2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fill="hold" grpId="1000">
                                  <p:stCondLst>
                                    <p:cond delay="350"/>
                                  </p:stCondLst>
                                  <p:childTnLst>
                                    <p:animScale>
                                      <p:cBhvr>
                                        <p:cTn id="1014" dur="600" fill="hold"/>
                                        <p:tgtEl>
                                          <p:spTgt spid="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15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fill="hold" grpId="1000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7" dur="7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18" dur="7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9" fill="hold" grpId="1000">
                                  <p:stCondLst>
                                    <p:cond delay="126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0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1" fill="hold" grpId="1000">
                                  <p:stCondLst>
                                    <p:cond delay="132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1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4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6" fill="hold" grpId="1000">
                                  <p:stCondLst>
                                    <p:cond delay="17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7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8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9" fill="hold" grpId="1000">
                                  <p:stCondLst>
                                    <p:cond delay="1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0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31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2" fill="hold" grpId="1000">
                                  <p:stCondLst>
                                    <p:cond delay="1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3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34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5" fill="hold" grpId="1000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6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37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8" fill="hold" grpId="1000">
                                  <p:stCondLst>
                                    <p:cond delay="2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9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40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-914400"/>
            <a:ext cx="5486400" cy="457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5486400" cy="4572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ШЛЯХ ДО ДОСКОНАЛОСТІ</a:t>
            </a:r>
            <a:endParaRPr lang="en-US" sz="1000" dirty="0"/>
          </a:p>
        </p:txBody>
      </p:sp>
      <p:sp>
        <p:nvSpPr>
          <p:cNvPr id="6" name="Text 1"/>
          <p:cNvSpPr/>
          <p:nvPr/>
        </p:nvSpPr>
        <p:spPr>
          <a:xfrm>
            <a:off x="50292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першої іскри до зоряного рівня</a:t>
            </a:r>
            <a:endParaRPr lang="en-US" sz="26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96112"/>
            <a:ext cx="8046720" cy="54864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907792"/>
            <a:ext cx="8412480" cy="54864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2542032"/>
            <a:ext cx="731520" cy="73152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932688" y="2807208"/>
            <a:ext cx="237744" cy="237744"/>
          </a:xfrm>
          <a:prstGeom prst="ellipse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1037844" y="1984248"/>
            <a:ext cx="18288" cy="822960"/>
          </a:xfrm>
          <a:prstGeom prst="rect">
            <a:avLst/>
          </a:prstGeom>
          <a:solidFill>
            <a:srgbClr val="7A9CC0">
              <a:alpha val="60000"/>
            </a:srgbClr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292608" y="1097280"/>
            <a:ext cx="1508760" cy="96012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7A9CC0"/>
            </a:solidFill>
            <a:prstDash val="solid"/>
          </a:ln>
        </p:spPr>
      </p:sp>
      <p:sp>
        <p:nvSpPr>
          <p:cNvPr id="13" name="Shape 5"/>
          <p:cNvSpPr/>
          <p:nvPr/>
        </p:nvSpPr>
        <p:spPr>
          <a:xfrm>
            <a:off x="292608" y="1097280"/>
            <a:ext cx="1508760" cy="50292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365760" y="1161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886968" y="1188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365760" y="13990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іскра</a:t>
            </a:r>
            <a:endParaRPr lang="en-US" sz="1000" dirty="0"/>
          </a:p>
        </p:txBody>
      </p:sp>
      <p:sp>
        <p:nvSpPr>
          <p:cNvPr id="17" name="Text 9"/>
          <p:cNvSpPr/>
          <p:nvPr/>
        </p:nvSpPr>
        <p:spPr>
          <a:xfrm>
            <a:off x="365760" y="1600200"/>
            <a:ext cx="1362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 навігація,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простий інтерфейс</a:t>
            </a:r>
            <a:endParaRPr lang="en-US" sz="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3432" y="2542032"/>
            <a:ext cx="731520" cy="73152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2624328" y="2807208"/>
            <a:ext cx="237744" cy="23774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2729484" y="3044952"/>
            <a:ext cx="18288" cy="777240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1984248" y="3822192"/>
            <a:ext cx="1508760" cy="96012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1984248" y="3822192"/>
            <a:ext cx="150876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2057400" y="3886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800" dirty="0"/>
          </a:p>
        </p:txBody>
      </p:sp>
      <p:sp>
        <p:nvSpPr>
          <p:cNvPr id="24" name="Text 15"/>
          <p:cNvSpPr/>
          <p:nvPr/>
        </p:nvSpPr>
        <p:spPr>
          <a:xfrm>
            <a:off x="2578608" y="39136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2057400" y="412394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Зростання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2057400" y="4325112"/>
            <a:ext cx="1362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зоряне поле,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XP-система</a:t>
            </a:r>
            <a:endParaRPr lang="en-US" sz="8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5072" y="2542032"/>
            <a:ext cx="731520" cy="73152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315968" y="2807208"/>
            <a:ext cx="237744" cy="23774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421124" y="1984248"/>
            <a:ext cx="18288" cy="82296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3675888" y="1097280"/>
            <a:ext cx="1508760" cy="96012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1" name="Shape 21"/>
          <p:cNvSpPr/>
          <p:nvPr/>
        </p:nvSpPr>
        <p:spPr>
          <a:xfrm>
            <a:off x="3675888" y="1097280"/>
            <a:ext cx="150876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3749040" y="1161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800" dirty="0"/>
          </a:p>
        </p:txBody>
      </p:sp>
      <p:sp>
        <p:nvSpPr>
          <p:cNvPr id="33" name="Text 23"/>
          <p:cNvSpPr/>
          <p:nvPr/>
        </p:nvSpPr>
        <p:spPr>
          <a:xfrm>
            <a:off x="4270248" y="1188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3749040" y="13990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Прорив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3749040" y="1600200"/>
            <a:ext cx="1362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Місії, дошка лідерів,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</a:t>
            </a:r>
            <a:endParaRPr lang="en-US" sz="8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6712" y="2542032"/>
            <a:ext cx="731520" cy="73152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6007608" y="2807208"/>
            <a:ext cx="237744" cy="237744"/>
          </a:xfrm>
          <a:prstGeom prst="ellipse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6112764" y="3044952"/>
            <a:ext cx="18288" cy="777240"/>
          </a:xfrm>
          <a:prstGeom prst="rect">
            <a:avLst/>
          </a:prstGeom>
          <a:solidFill>
            <a:srgbClr val="00D2FF">
              <a:alpha val="60000"/>
            </a:srgbClr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5367528" y="3822192"/>
            <a:ext cx="1508760" cy="96012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5367528" y="3822192"/>
            <a:ext cx="1508760" cy="5029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5440680" y="3886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800" dirty="0"/>
          </a:p>
        </p:txBody>
      </p:sp>
      <p:sp>
        <p:nvSpPr>
          <p:cNvPr id="42" name="Text 31"/>
          <p:cNvSpPr/>
          <p:nvPr/>
        </p:nvSpPr>
        <p:spPr>
          <a:xfrm>
            <a:off x="5961888" y="39136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5440680" y="412394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сила</a:t>
            </a:r>
            <a:endParaRPr lang="en-US" sz="1000" dirty="0"/>
          </a:p>
        </p:txBody>
      </p:sp>
      <p:sp>
        <p:nvSpPr>
          <p:cNvPr id="44" name="Text 33"/>
          <p:cNvSpPr/>
          <p:nvPr/>
        </p:nvSpPr>
        <p:spPr>
          <a:xfrm>
            <a:off x="5440680" y="4325112"/>
            <a:ext cx="1362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Мінігра, щоденні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виклики, AI-тренер</a:t>
            </a:r>
            <a:endParaRPr lang="en-US" sz="85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8352" y="2542032"/>
            <a:ext cx="731520" cy="731520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7699248" y="2807208"/>
            <a:ext cx="237744" cy="23774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7804404" y="1984248"/>
            <a:ext cx="18288" cy="822960"/>
          </a:xfrm>
          <a:prstGeom prst="rect">
            <a:avLst/>
          </a:prstGeom>
          <a:solidFill>
            <a:srgbClr val="F43F5E">
              <a:alpha val="6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7059168" y="1097280"/>
            <a:ext cx="1508760" cy="96012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7059168" y="1097280"/>
            <a:ext cx="150876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7132320" y="1161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v4.5</a:t>
            </a:r>
            <a:endParaRPr lang="en-US" sz="1800" dirty="0"/>
          </a:p>
        </p:txBody>
      </p:sp>
      <p:sp>
        <p:nvSpPr>
          <p:cNvPr id="51" name="Text 39"/>
          <p:cNvSpPr/>
          <p:nvPr/>
        </p:nvSpPr>
        <p:spPr>
          <a:xfrm>
            <a:off x="7653528" y="1188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52" name="Text 40"/>
          <p:cNvSpPr/>
          <p:nvPr/>
        </p:nvSpPr>
        <p:spPr>
          <a:xfrm>
            <a:off x="7132320" y="13990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</a:t>
            </a:r>
            <a:endParaRPr lang="en-US" sz="1000" dirty="0"/>
          </a:p>
        </p:txBody>
      </p:sp>
      <p:sp>
        <p:nvSpPr>
          <p:cNvPr id="53" name="Text 41"/>
          <p:cNvSpPr/>
          <p:nvPr/>
        </p:nvSpPr>
        <p:spPr>
          <a:xfrm>
            <a:off x="7132320" y="1600200"/>
            <a:ext cx="13624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Серед-Us корабель,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босові хвилі, бейджі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07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8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9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0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2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fill="hold" grpId="1000">
                                  <p:stCondLst>
                                    <p:cond delay="4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4" dur="8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5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6" dur="4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7" dur="45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8" fill="hold" grpId="1000">
                                  <p:stCondLst>
                                    <p:cond delay="7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9" dur="4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0" dur="45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1" fill="hold" grpId="1000">
                                  <p:stCondLst>
                                    <p:cond delay="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2" dur="4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3" dur="45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4" fill="hold" grpId="1000">
                                  <p:stCondLst>
                                    <p:cond delay="11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5" dur="4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6" dur="45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7" fill="hold" grpId="1000">
                                  <p:stCondLst>
                                    <p:cond delay="1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9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0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1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2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3" fill="hold" grpId="1000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35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0">
                                  <p:stCondLst>
                                    <p:cond delay="18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7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38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9" fill="hold" grpId="1000">
                                  <p:stCondLst>
                                    <p:cond delay="20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0">
                                  <p:stCondLst>
                                    <p:cond delay="22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3" dur="4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44" dur="45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5" fill="hold" grpId="1000">
                                  <p:stCondLst>
                                    <p:cond delay="2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4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47" dur="45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0">
                                  <p:stCondLst>
                                    <p:cond delay="25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9" dur="4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0" dur="450" fill="hold"/>
                                        <p:tgtEl>
                                          <p:spTgt spid="1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1" fill="hold" grpId="1000">
                                  <p:stCondLst>
                                    <p:cond delay="27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4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53" dur="45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0">
                                  <p:stCondLst>
                                    <p:cond delay="29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5" dur="4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56" dur="450" fill="hold"/>
                                        <p:tgtEl>
                                          <p:spTgt spid="1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7" fill="hold" grpId="1000">
                                  <p:stCondLst>
                                    <p:cond delay="3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4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45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0">
                                  <p:stCondLst>
                                    <p:cond delay="3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1" dur="4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62" dur="450" fill="hold"/>
                                        <p:tgtEl>
                                          <p:spTgt spid="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3" fill="hold" grpId="1000">
                                  <p:stCondLst>
                                    <p:cond delay="34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4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65" dur="45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0">
                                  <p:stCondLst>
                                    <p:cond delay="36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7" dur="4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8" dur="45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9" fill="hold" grpId="1000">
                                  <p:stCondLst>
                                    <p:cond delay="3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4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71" dur="45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0">
                                  <p:stCondLst>
                                    <p:cond delay="40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3" dur="4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74" dur="450" fill="hold"/>
                                        <p:tgtEl>
                                          <p:spTgt spid="2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5" fill="hold" grpId="1000">
                                  <p:stCondLst>
                                    <p:cond delay="4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4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45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0">
                                  <p:stCondLst>
                                    <p:cond delay="43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9" dur="4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80" dur="450" fill="hold"/>
                                        <p:tgtEl>
                                          <p:spTgt spid="2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1" fill="hold" grpId="1000">
                                  <p:stCondLst>
                                    <p:cond delay="4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4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83" dur="45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0">
                                  <p:stCondLst>
                                    <p:cond delay="47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5" dur="45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6" dur="450" fill="hold"/>
                                        <p:tgtEl>
                                          <p:spTgt spid="2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7" fill="hold" grpId="1000">
                                  <p:stCondLst>
                                    <p:cond delay="49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45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89" dur="45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0">
                                  <p:stCondLst>
                                    <p:cond delay="5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1" dur="45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92" dur="450" fill="hold"/>
                                        <p:tgtEl>
                                          <p:spTgt spid="3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3" fill="hold" grpId="1000">
                                  <p:stCondLst>
                                    <p:cond delay="5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45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45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6" fill="hold" grpId="1000">
                                  <p:stCondLst>
                                    <p:cond delay="54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7" dur="45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98" dur="450" fill="hold"/>
                                        <p:tgtEl>
                                          <p:spTgt spid="3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9" fill="hold" grpId="1000">
                                  <p:stCondLst>
                                    <p:cond delay="56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0" dur="45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01" dur="45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2" fill="hold" grpId="1000">
                                  <p:stCondLst>
                                    <p:cond delay="58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3" dur="45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4" dur="45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5" fill="hold" grpId="1000">
                                  <p:stCondLst>
                                    <p:cond delay="6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6" dur="45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07" dur="45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8" fill="hold" grpId="1000">
                                  <p:stCondLst>
                                    <p:cond delay="61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9" dur="45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10" dur="450" fill="hold"/>
                                        <p:tgtEl>
                                          <p:spTgt spid="3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1" fill="hold" grpId="1000">
                                  <p:stCondLst>
                                    <p:cond delay="6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2" dur="45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3" dur="45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4" fill="hold" grpId="1000">
                                  <p:stCondLst>
                                    <p:cond delay="65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5" dur="45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16" dur="450" fill="hold"/>
                                        <p:tgtEl>
                                          <p:spTgt spid="3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7" fill="hold" grpId="1000">
                                  <p:stCondLst>
                                    <p:cond delay="67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8" dur="45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19" dur="450" fill="hold"/>
                                        <p:tgtEl>
                                          <p:spTgt spid="4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0" fill="hold" grpId="1000">
                                  <p:stCondLst>
                                    <p:cond delay="6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1" dur="45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22" dur="450" fill="hold"/>
                                        <p:tgtEl>
                                          <p:spTgt spid="4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3" fill="hold" grpId="1000">
                                  <p:stCondLst>
                                    <p:cond delay="7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4" dur="45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25" dur="450" fill="hold"/>
                                        <p:tgtEl>
                                          <p:spTgt spid="4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6" fill="hold" grpId="1000">
                                  <p:stCondLst>
                                    <p:cond delay="72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7" dur="45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28" dur="450" fill="hold"/>
                                        <p:tgtEl>
                                          <p:spTgt spid="4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9" fill="hold" grpId="1000">
                                  <p:stCondLst>
                                    <p:cond delay="7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0" dur="45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31" dur="450" fill="hold"/>
                                        <p:tgtEl>
                                          <p:spTgt spid="4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2" fill="hold" grpId="1000">
                                  <p:stCondLst>
                                    <p:cond delay="76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3" dur="45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34" dur="450" fill="hold"/>
                                        <p:tgtEl>
                                          <p:spTgt spid="4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5" fill="hold" grpId="1000">
                                  <p:stCondLst>
                                    <p:cond delay="7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6" dur="45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37" dur="450" fill="hold"/>
                                        <p:tgtEl>
                                          <p:spTgt spid="4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8" fill="hold" grpId="1000">
                                  <p:stCondLst>
                                    <p:cond delay="79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9" dur="45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40" dur="450" fill="hold"/>
                                        <p:tgtEl>
                                          <p:spTgt spid="4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1" fill="hold" grpId="1000">
                                  <p:stCondLst>
                                    <p:cond delay="8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2" dur="45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43" dur="45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4" fill="hold" grpId="1000">
                                  <p:stCondLst>
                                    <p:cond delay="83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5" dur="450" fill="hold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46" dur="450" fill="hold"/>
                                        <p:tgtEl>
                                          <p:spTgt spid="4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7" fill="hold" grpId="1000">
                                  <p:stCondLst>
                                    <p:cond delay="8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8" dur="450" fill="hold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49" dur="45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0" fill="hold" grpId="1000">
                                  <p:stCondLst>
                                    <p:cond delay="87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51" dur="450" fill="hold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52" dur="450" fill="hold"/>
                                        <p:tgtEl>
                                          <p:spTgt spid="5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3" fill="hold" grpId="1000">
                                  <p:stCondLst>
                                    <p:cond delay="88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54" dur="450" fill="hold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155" dur="450" fill="hold"/>
                                        <p:tgtEl>
                                          <p:spTgt spid="5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6" fill="hold" grpId="1000">
                                  <p:stCondLst>
                                    <p:cond delay="90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57" dur="450" fill="hold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58" dur="450" fill="hold"/>
                                        <p:tgtEl>
                                          <p:spTgt spid="5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20810"/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10800000">
            <a:off x="3749040" y="0"/>
            <a:ext cx="731520" cy="5143500"/>
          </a:xfrm>
          <a:prstGeom prst="rtTriangle">
            <a:avLst/>
          </a:prstGeom>
          <a:solidFill>
            <a:srgbClr val="020810"/>
          </a:solidFill>
          <a:ln w="12700">
            <a:solidFill>
              <a:srgbClr val="02040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0"/>
            <a:ext cx="5486400" cy="5143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" y="-9144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A855F7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0" dirty="0"/>
          </a:p>
        </p:txBody>
      </p:sp>
      <p:sp>
        <p:nvSpPr>
          <p:cNvPr id="7" name="Text 3"/>
          <p:cNvSpPr/>
          <p:nvPr/>
        </p:nvSpPr>
        <p:spPr>
          <a:xfrm>
            <a:off x="182880" y="365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457200" y="14173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A855F7">
              <a:alpha val="30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1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Іскра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57200" y="2395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24912"/>
            <a:ext cx="8046720" cy="5486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" y="290779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58368" y="2834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UI із темним космічним фоном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310128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58368" y="32369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зоряна сцена на Three.js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712464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58368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Бічна навігаційна панель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4114800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40416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Заглушки для майбутніх функцій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54880" y="365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НОВОГО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754880" y="74980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v1</a:t>
            </a:r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це початок. Мінімалістичний дизайн,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темний фон і перші кроки у космічному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світі провідника.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754880" y="1874520"/>
            <a:ext cx="182880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54880" y="1874520"/>
            <a:ext cx="18288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5488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3600" dirty="0"/>
          </a:p>
        </p:txBody>
      </p:sp>
      <p:sp>
        <p:nvSpPr>
          <p:cNvPr id="26" name="Text 21"/>
          <p:cNvSpPr/>
          <p:nvPr/>
        </p:nvSpPr>
        <p:spPr>
          <a:xfrm>
            <a:off x="475488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коду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7548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Початкова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766560" y="1874520"/>
            <a:ext cx="210312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7A9CC0">
                <a:alpha val="5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76656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766560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 народилась.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Космос чекає.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38912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012" dur="800" fill="hold"/>
                                        <p:tgtEl>
                                          <p:spTgt spid="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13" dur="8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018" dur="400" fill="hold"/>
                                        <p:tgtEl>
                                          <p:spTgt spid="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19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2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9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4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5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6" fill="hold" grpId="1000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7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8" dur="4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9" fill="hold">
                      <p:stCondLst>
                        <p:cond delay="indefinite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2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3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4" fill="hold" grpId="1001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5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6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7" fill="hold" grpId="1001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8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9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0" fill="hold" grpId="1001">
                                  <p:stCondLst>
                                    <p:cond delay="4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1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42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3" fill="hold">
                      <p:stCondLst>
                        <p:cond delay="indefinite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fill="hold" grpId="1002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2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9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0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1" fill="hold" grpId="1002">
                                  <p:stCondLst>
                                    <p:cond delay="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2">
                                  <p:stCondLst>
                                    <p:cond delay="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5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6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7" fill="hold" grpId="1002">
                                  <p:stCondLst>
                                    <p:cond delay="4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2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1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2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3" fill="hold" grpId="1002">
                                  <p:stCondLst>
                                    <p:cond delay="7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2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7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8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9" fill="hold" grpId="1002">
                                  <p:stCondLst>
                                    <p:cond delay="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2">
                                  <p:stCondLst>
                                    <p:cond delay="1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3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5" fill="hold" grpId="1002">
                                  <p:stCondLst>
                                    <p:cond delay="1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2">
                                  <p:stCondLst>
                                    <p:cond delay="1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9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0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1" fill="hold" grpId="1002">
                                  <p:stCondLst>
                                    <p:cond delay="1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2">
                                  <p:stCondLst>
                                    <p:cond delay="1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5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6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7" fill="hold" grpId="1002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9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2">
                                  <p:stCondLst>
                                    <p:cond delay="1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1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2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3" fill="hold" grpId="1002">
                                  <p:stCondLst>
                                    <p:cond delay="19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0810">
              <a:alpha val="90000"/>
            </a:srgbClr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822960"/>
            <a:ext cx="91440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164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2331720" y="246888"/>
            <a:ext cx="777240" cy="256032"/>
          </a:xfrm>
          <a:prstGeom prst="roundRect">
            <a:avLst>
              <a:gd name="adj" fmla="val 21429"/>
            </a:avLst>
          </a:prstGeom>
          <a:solidFill>
            <a:srgbClr val="F97316">
              <a:alpha val="2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331720" y="246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291840" y="2103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Зростання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0" y="25603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1005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Космос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ожив</a:t>
            </a:r>
            <a:endParaRPr lang="en-US" sz="42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2743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2423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Інтерактивне 3D-зоряне поле та перша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прогресу замінили статичний вигляд.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389120" y="1051560"/>
            <a:ext cx="224028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89120" y="1051560"/>
            <a:ext cx="54864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39903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1307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зоряне поле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8348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анімація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12280" y="1051560"/>
            <a:ext cx="224028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12280" y="1051560"/>
            <a:ext cx="54864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990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13075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XP-система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0664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Рівні та ранги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89120" y="2606040"/>
            <a:ext cx="224028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389120" y="2606040"/>
            <a:ext cx="54864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95351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83480" y="2862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Живий годинник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9834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у сайдбарі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812280" y="2606040"/>
            <a:ext cx="2240280" cy="1325880"/>
          </a:xfrm>
          <a:prstGeom prst="rect">
            <a:avLst/>
          </a:prstGeom>
          <a:solidFill>
            <a:srgbClr val="0D1F3C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12280" y="2606040"/>
            <a:ext cx="54864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95351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2862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Плавна анімація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40664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 рендеринг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3840480"/>
            <a:ext cx="3474720" cy="68580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57200" y="3840480"/>
            <a:ext cx="3474720" cy="685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+400%</a:t>
            </a:r>
            <a:pPr indent="0" marL="0">
              <a:buNone/>
            </a:pPr>
            <a:r>
              <a:rPr lang="en-US" sz="1200" dirty="0">
                <a:solidFill>
                  <a:srgbClr val="DDEEFF"/>
                </a:solidFill>
              </a:rPr>
              <a:t>  складність коду</a:t>
            </a:r>
            <a:endParaRPr lang="en-US" sz="2200" dirty="0"/>
          </a:p>
        </p:txBody>
      </p:sp>
    </p:spTree>
  </p:cSld>
  <p:clrMapOvr>
    <a:masterClrMapping/>
  </p:clrMapOvr>
  <p:transition spd="med">
    <p:cover dir="d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0" dur="3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4" dur="7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5" dur="7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6" fill="hold" grpId="1000">
                                  <p:stCondLst>
                                    <p:cond delay="8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7" dur="4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8" fill="hold" grpId="1000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30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1" fill="hold">
                      <p:stCondLst>
                        <p:cond delay="indefinite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fill="hold" grpId="1001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4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5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13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260"/>
                                  </p:stCondLst>
                                  <p:childTnLst>
                                    <p:animScale>
                                      <p:cBhvr>
                                        <p:cTn id="1040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39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520"/>
                                  </p:stCondLst>
                                  <p:childTnLst>
                                    <p:animScale>
                                      <p:cBhvr>
                                        <p:cTn id="1046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780"/>
                                  </p:stCondLst>
                                  <p:childTnLst>
                                    <p:animScale>
                                      <p:cBhvr>
                                        <p:cTn id="1052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3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91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7" fill="hold">
                      <p:stCondLst>
                        <p:cond delay="indefinite"/>
                      </p:stCondLst>
                      <p:childTnLst>
                        <p:par>
                          <p:cTn id="1058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fill="hold" grpId="1002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0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1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2" fill="hold" grpId="1002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3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4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5" fill="hold" grpId="1002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6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7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8" fill="hold" grpId="1002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9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0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1" fill="hold" grpId="1002">
                                  <p:stCondLst>
                                    <p:cond delay="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2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3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4" fill="hold" grpId="1002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5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6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7" fill="hold" grpId="1002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8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9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0" fill="hold" grpId="1002">
                                  <p:stCondLst>
                                    <p:cond delay="7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1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3" fill="hold" grpId="1002">
                                  <p:stCondLst>
                                    <p:cond delay="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4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5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6" fill="hold" grpId="1002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7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8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9" fill="hold" grpId="1002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0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1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2" fill="hold" grpId="1002">
                                  <p:stCondLst>
                                    <p:cond delay="1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3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4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5" fill="hold" grpId="1002">
                                  <p:stCondLst>
                                    <p:cond delay="1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6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7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8" fill="hold" grpId="1002">
                                  <p:stCondLst>
                                    <p:cond delay="1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9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0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1" fill="hold" grpId="1002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2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3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4" fill="hold" grpId="1002">
                                  <p:stCondLst>
                                    <p:cond delay="1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5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6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7" fill="hold" grpId="1002">
                                  <p:stCondLst>
                                    <p:cond delay="1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8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9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50E20"/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916168" y="0"/>
            <a:ext cx="3200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0" y="-4572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22C55E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0" dirty="0"/>
          </a:p>
        </p:txBody>
      </p:sp>
      <p:sp>
        <p:nvSpPr>
          <p:cNvPr id="7" name="Shape 3"/>
          <p:cNvSpPr/>
          <p:nvPr/>
        </p:nvSpPr>
        <p:spPr>
          <a:xfrm>
            <a:off x="502920" y="32004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22C55E">
              <a:alpha val="3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02920" y="320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3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7955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Прорив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5029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екосистема гравця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6232"/>
            <a:ext cx="8046720" cy="5486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21408"/>
            <a:ext cx="320040" cy="320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960120" y="2066544"/>
            <a:ext cx="22860" cy="475488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051560" y="20482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місій та досягнень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051560" y="23317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Понад 20 унікальних місій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834640"/>
            <a:ext cx="320040" cy="32004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960120" y="2779776"/>
            <a:ext cx="22860" cy="475488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051560" y="2761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Дошка лідерів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051560" y="3044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Змагання між гравцями</a:t>
            </a:r>
            <a:endParaRPr lang="en-US" sz="10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47872"/>
            <a:ext cx="320040" cy="32004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960120" y="3493008"/>
            <a:ext cx="22860" cy="475488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1051560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Категорії рейтингів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051560" y="37581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за типом активності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261104"/>
            <a:ext cx="320040" cy="32004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60120" y="4206240"/>
            <a:ext cx="22860" cy="475488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1051560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Стрики та комбо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1051560" y="44714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Бонуси за послідовність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6126480" y="274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ЦИФРИ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172200" y="1097280"/>
            <a:ext cx="274320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6172200" y="109728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1722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600" dirty="0"/>
          </a:p>
        </p:txBody>
      </p:sp>
      <p:sp>
        <p:nvSpPr>
          <p:cNvPr id="32" name="Text 23"/>
          <p:cNvSpPr/>
          <p:nvPr/>
        </p:nvSpPr>
        <p:spPr>
          <a:xfrm>
            <a:off x="617220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місій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172200" y="2377440"/>
            <a:ext cx="274320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172200" y="237744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17220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36" name="Text 27"/>
          <p:cNvSpPr/>
          <p:nvPr/>
        </p:nvSpPr>
        <p:spPr>
          <a:xfrm>
            <a:off x="617220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категорій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6172200" y="3657600"/>
            <a:ext cx="274320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172200" y="365760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1722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600" dirty="0"/>
          </a:p>
        </p:txBody>
      </p:sp>
      <p:sp>
        <p:nvSpPr>
          <p:cNvPr id="40" name="Text 31"/>
          <p:cNvSpPr/>
          <p:nvPr/>
        </p:nvSpPr>
        <p:spPr>
          <a:xfrm>
            <a:off x="617220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стрики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12" dur="700" fill="hold"/>
                                        <p:tgtEl>
                                          <p:spTgt spid="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13" dur="7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015" dur="400" fill="hold"/>
                                        <p:tgtEl>
                                          <p:spTgt spid="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16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19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29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1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2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5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7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8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41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3" dur="4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44" dur="45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4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47" dur="45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10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9" dur="4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50" dur="450" fill="hold"/>
                                        <p:tgtEl>
                                          <p:spTgt spid="1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1" fill="hold">
                      <p:stCondLst>
                        <p:cond delay="indefinite"/>
                      </p:stCondLst>
                      <p:childTnLst>
                        <p:par>
                          <p:cTn id="1052" fill="hold">
                            <p:stCondLst>
                              <p:cond delay="0"/>
                            </p:stCondLst>
                            <p:childTnLst>
                              <p:par>
                                <p:cTn id="1053" fill="hold" grpId="1002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4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5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6" fill="hold" grpId="1002">
                                  <p:stCondLst>
                                    <p:cond delay="1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7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8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9" fill="hold" grpId="1002">
                                  <p:stCondLst>
                                    <p:cond delay="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0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1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2" fill="hold" grpId="1002">
                                  <p:stCondLst>
                                    <p:cond delay="5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3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4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5" fill="hold" grpId="1002">
                                  <p:stCondLst>
                                    <p:cond delay="7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6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7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8" fill="hold" grpId="1002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9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0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1" fill="hold" grpId="1002">
                                  <p:stCondLst>
                                    <p:cond delay="1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2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3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4" fill="hold" grpId="1002">
                                  <p:stCondLst>
                                    <p:cond delay="12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5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6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7" fill="hold" grpId="1002">
                                  <p:stCondLst>
                                    <p:cond delay="1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8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9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0" fill="hold" grpId="1002">
                                  <p:stCondLst>
                                    <p:cond delay="16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1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2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3" fill="hold" grpId="1002">
                                  <p:stCondLst>
                                    <p:cond delay="1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4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5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6" fill="hold" grpId="1002">
                                  <p:stCondLst>
                                    <p:cond delay="19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7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8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9" fill="hold" grpId="1002">
                                  <p:stCondLst>
                                    <p:cond delay="2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0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1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2" fill="hold" grpId="1002">
                                  <p:stCondLst>
                                    <p:cond delay="23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3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4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5" fill="hold" grpId="1002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6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7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8" fill="hold" grpId="1002">
                                  <p:stCondLst>
                                    <p:cond delay="27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9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0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1" fill="hold" grpId="1002">
                                  <p:stCondLst>
                                    <p:cond delay="28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2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3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4" fill="hold" grpId="1002">
                                  <p:stCondLst>
                                    <p:cond delay="30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5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6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7" fill="hold" grpId="1002">
                                  <p:stCondLst>
                                    <p:cond delay="3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8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9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0" fill="hold" grpId="1002">
                                  <p:stCondLst>
                                    <p:cond delay="34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1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2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3" fill="hold" grpId="1002">
                                  <p:stCondLst>
                                    <p:cond delay="3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4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5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6" fill="hold" grpId="1002">
                                  <p:stCondLst>
                                    <p:cond delay="37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7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8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9" fill="hold" grpId="1002">
                                  <p:stCondLst>
                                    <p:cond delay="3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0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21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0"/>
            <a:ext cx="6400800" cy="5143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5943600" y="-27432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00D2FF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0" dirty="0"/>
          </a:p>
        </p:txBody>
      </p:sp>
      <p:sp>
        <p:nvSpPr>
          <p:cNvPr id="7" name="Shape 2"/>
          <p:cNvSpPr/>
          <p:nvPr/>
        </p:nvSpPr>
        <p:spPr>
          <a:xfrm>
            <a:off x="457200" y="34747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00D2FF">
              <a:alpha val="30000"/>
            </a:srgbClr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57200" y="347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4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Сила</a:t>
            </a:r>
            <a:endParaRPr lang="en-US" sz="4600" dirty="0"/>
          </a:p>
        </p:txBody>
      </p:sp>
      <p:sp>
        <p:nvSpPr>
          <p:cNvPr id="10" name="Text 5"/>
          <p:cNvSpPr/>
          <p:nvPr/>
        </p:nvSpPr>
        <p:spPr>
          <a:xfrm>
            <a:off x="457200" y="15087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як повноцінний геймінг-хаб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57200" y="2057400"/>
            <a:ext cx="2697480" cy="2560320"/>
          </a:xfrm>
          <a:prstGeom prst="rect">
            <a:avLst/>
          </a:prstGeom>
          <a:solidFill>
            <a:srgbClr val="0D1F3C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7200" y="2057400"/>
            <a:ext cx="269748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0080" y="2240280"/>
            <a:ext cx="685800" cy="685800"/>
          </a:xfrm>
          <a:prstGeom prst="ellipse">
            <a:avLst/>
          </a:prstGeom>
          <a:solidFill>
            <a:srgbClr val="00D2FF">
              <a:alpha val="20000"/>
            </a:srgbClr>
          </a:solidFill>
          <a:ln w="12700">
            <a:solidFill>
              <a:srgbClr val="00D2F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30428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436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Мінігра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94360" y="3474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Стрілялка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Meteorite Attack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середи-us корабель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383280" y="2057400"/>
            <a:ext cx="2697480" cy="2560320"/>
          </a:xfrm>
          <a:prstGeom prst="rect">
            <a:avLst/>
          </a:prstGeom>
          <a:solidFill>
            <a:srgbClr val="0D1F3C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383280" y="2057400"/>
            <a:ext cx="2697480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566160" y="2240280"/>
            <a:ext cx="685800" cy="68580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304288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2044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AI-тренер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3520440" y="3474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підказки 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адаптивні завдання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09360" y="2057400"/>
            <a:ext cx="2697480" cy="2560320"/>
          </a:xfrm>
          <a:prstGeom prst="rect">
            <a:avLst/>
          </a:prstGeom>
          <a:solidFill>
            <a:srgbClr val="0D1F3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309360" y="2057400"/>
            <a:ext cx="269748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92240" y="2240280"/>
            <a:ext cx="685800" cy="685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304288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46520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Виклики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6446520" y="3474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Щоденні 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тижневі місії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нагородами</a:t>
            </a:r>
            <a:endParaRPr lang="en-US" sz="11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2" dur="3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fill="hold" grpId="100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14" dur="700" fill="hold"/>
                                        <p:tgtEl>
                                          <p:spTgt spid="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15" dur="7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7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8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9" fill="hold" grpId="1000">
                                  <p:stCondLst>
                                    <p:cond delay="7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0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1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2" fill="hold" grpId="1000">
                                  <p:stCondLst>
                                    <p:cond delay="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3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4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5" fill="hold" grpId="1000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6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7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8" fill="hold">
                      <p:stCondLst>
                        <p:cond delay="indefinite"/>
                      </p:stCondLst>
                      <p:childTnLst>
                        <p:par>
                          <p:cTn id="1029" fill="hold">
                            <p:stCondLst>
                              <p:cond delay="0"/>
                            </p:stCondLst>
                            <p:childTnLst>
                              <p:par>
                                <p:cTn id="1030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1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2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60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7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8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3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4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6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60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1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9" dur="6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0" dur="6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6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600" fill="hold"/>
                                        <p:tgtEl>
                                          <p:spTgt spid="1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5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6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6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600" fill="hold"/>
                                        <p:tgtEl>
                                          <p:spTgt spid="1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1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2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2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2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7" dur="6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8" dur="6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2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6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60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3" dur="6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4" dur="6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5" fill="hold" grpId="1001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6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600" fill="hold"/>
                                        <p:tgtEl>
                                          <p:spTgt spid="2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1">
                                  <p:stCondLst>
                                    <p:cond delay="3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9" dur="6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0" dur="6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1" fill="hold" grpId="1001">
                                  <p:stCondLst>
                                    <p:cond delay="3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6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600" fill="hold"/>
                                        <p:tgtEl>
                                          <p:spTgt spid="2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1">
                                  <p:stCondLst>
                                    <p:cond delay="3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5" dur="6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6" dur="6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0"/>
            <a:ext cx="7315200" cy="5143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F43F5E">
              <a:alpha val="8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ФІНАЛЬНА ЕВОЛЮЦІЯ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v4.5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457200" y="1234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 народилась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457200" y="1627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Останнє велике оновлення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1680"/>
            <a:ext cx="8046720" cy="5486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57200" y="2212848"/>
            <a:ext cx="2011680" cy="2468880"/>
          </a:xfrm>
          <a:prstGeom prst="rect">
            <a:avLst/>
          </a:prstGeom>
          <a:solidFill>
            <a:srgbClr val="0D1F3C">
              <a:alpha val="90000"/>
            </a:srgbClr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457200" y="4631436"/>
            <a:ext cx="2011680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1097280" y="2441448"/>
            <a:ext cx="731520" cy="731520"/>
          </a:xfrm>
          <a:prstGeom prst="ellipse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2505456"/>
            <a:ext cx="420624" cy="4206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8640" y="33284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Серед-Us корабель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48640" y="37216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Унікальний Among-Us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персонаж-корабель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анімацією двигуна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2651760" y="2212848"/>
            <a:ext cx="2011680" cy="2468880"/>
          </a:xfrm>
          <a:prstGeom prst="rect">
            <a:avLst/>
          </a:prstGeom>
          <a:solidFill>
            <a:srgbClr val="0D1F3C">
              <a:alpha val="90000"/>
            </a:srgbClr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2651760" y="4631436"/>
            <a:ext cx="2011680" cy="5029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3291840" y="2441448"/>
            <a:ext cx="731520" cy="731520"/>
          </a:xfrm>
          <a:prstGeom prst="ellipse">
            <a:avLst/>
          </a:prstGeom>
          <a:solidFill>
            <a:srgbClr val="00D2FF">
              <a:alpha val="22000"/>
            </a:srgbClr>
          </a:solidFill>
          <a:ln w="12700">
            <a:solidFill>
              <a:srgbClr val="00D2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505456"/>
            <a:ext cx="420624" cy="42062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743200" y="33284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Бос-хвилі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2743200" y="37216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Спеціальні хвилі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бронованими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швидкими ворогами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4846320" y="2212848"/>
            <a:ext cx="2011680" cy="2468880"/>
          </a:xfrm>
          <a:prstGeom prst="rect">
            <a:avLst/>
          </a:prstGeom>
          <a:solidFill>
            <a:srgbClr val="0D1F3C">
              <a:alpha val="90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846320" y="4631436"/>
            <a:ext cx="201168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486400" y="2441448"/>
            <a:ext cx="731520" cy="731520"/>
          </a:xfrm>
          <a:prstGeom prst="ellipse">
            <a:avLst/>
          </a:prstGeom>
          <a:solidFill>
            <a:srgbClr val="F97316">
              <a:alpha val="22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08" y="2505456"/>
            <a:ext cx="420624" cy="42062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37760" y="33284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Бейджі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4937760" y="37216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здобутків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колекційні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нагороди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7040880" y="2212848"/>
            <a:ext cx="2011680" cy="2468880"/>
          </a:xfrm>
          <a:prstGeom prst="rect">
            <a:avLst/>
          </a:prstGeom>
          <a:solidFill>
            <a:srgbClr val="0D1F3C">
              <a:alpha val="90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040880" y="4631436"/>
            <a:ext cx="201168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680960" y="2441448"/>
            <a:ext cx="731520" cy="731520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2505456"/>
            <a:ext cx="420624" cy="42062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32320" y="33284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Пауер-апи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7132320" y="37216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Щит, прискорення,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бомба — тактичний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2" dur="3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4" dur="3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5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6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7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8" fill="hold" grpId="1000">
                                  <p:stCondLst>
                                    <p:cond delay="3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9" dur="8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0" dur="8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1" fill="hold" grpId="1000">
                                  <p:stCondLst>
                                    <p:cond delay="1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2" dur="4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3" dur="45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4" fill="hold" grpId="1000">
                                  <p:stCondLst>
                                    <p:cond delay="1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5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6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7" fill="hold" grpId="1000">
                                  <p:stCondLst>
                                    <p:cond delay="1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9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0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2" fill="hold">
                      <p:stCondLst>
                        <p:cond delay="indefinite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id="1034" fill="hold" grpId="1001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5" dur="600" fill="hold"/>
                                        <p:tgtEl>
                                          <p:spTgt spid="1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6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fill="hold" grpId="1001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038" dur="6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9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0" fill="hold" grpId="1001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041" dur="600" fill="hold"/>
                                        <p:tgtEl>
                                          <p:spTgt spid="1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2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3" fill="hold" grpId="1001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044" dur="6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5" dur="6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fill="hold" grpId="1001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047" dur="600" fill="hold"/>
                                        <p:tgtEl>
                                          <p:spTgt spid="1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8" dur="6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fill="hold" grpId="1001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50" dur="6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1" dur="6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fill="hold" grpId="1001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1053" dur="600" fill="hold"/>
                                        <p:tgtEl>
                                          <p:spTgt spid="1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4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fill="hold" grpId="1001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056" dur="6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7" dur="6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fill="hold" grpId="1001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1059" dur="600" fill="hold"/>
                                        <p:tgtEl>
                                          <p:spTgt spid="20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0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1" fill="hold" grpId="1001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1062" dur="6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3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4" fill="hold" grpId="1001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065" dur="600" fill="hold"/>
                                        <p:tgtEl>
                                          <p:spTgt spid="2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6" dur="6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7" fill="hold" grpId="1001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1068" dur="6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9" dur="6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fill="hold" grpId="1001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071" dur="600" fill="hold"/>
                                        <p:tgtEl>
                                          <p:spTgt spid="2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2" dur="6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fill="hold" grpId="1001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1074" dur="6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5" dur="6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fill="hold" grpId="1001">
                                  <p:stCondLst>
                                    <p:cond delay="2800"/>
                                  </p:stCondLst>
                                  <p:childTnLst>
                                    <p:animScale>
                                      <p:cBhvr>
                                        <p:cTn id="1077" dur="600" fill="hold"/>
                                        <p:tgtEl>
                                          <p:spTgt spid="2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8" dur="6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fill="hold" grpId="1001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080" dur="60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1" dur="6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fill="hold" grpId="1001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1083" dur="600" fill="hold"/>
                                        <p:tgtEl>
                                          <p:spTgt spid="2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4" dur="6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fill="hold" grpId="1001">
                                  <p:stCondLst>
                                    <p:cond delay="3400"/>
                                  </p:stCondLst>
                                  <p:childTnLst>
                                    <p:animScale>
                                      <p:cBhvr>
                                        <p:cTn id="1086" dur="60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7" dur="6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fill="hold" grpId="1001">
                                  <p:stCondLst>
                                    <p:cond delay="3600"/>
                                  </p:stCondLst>
                                  <p:childTnLst>
                                    <p:animScale>
                                      <p:cBhvr>
                                        <p:cTn id="1089" dur="600" fill="hold"/>
                                        <p:tgtEl>
                                          <p:spTgt spid="30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0" dur="6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fill="hold" grpId="1001">
                                  <p:stCondLst>
                                    <p:cond delay="3800"/>
                                  </p:stCondLst>
                                  <p:childTnLst>
                                    <p:animScale>
                                      <p:cBhvr>
                                        <p:cTn id="1092" dur="60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3" dur="6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4" fill="hold" grpId="1001">
                                  <p:stCondLst>
                                    <p:cond delay="4000"/>
                                  </p:stCondLst>
                                  <p:childTnLst>
                                    <p:animScale>
                                      <p:cBhvr>
                                        <p:cTn id="1095" dur="600" fill="hold"/>
                                        <p:tgtEl>
                                          <p:spTgt spid="3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6" dur="6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7" fill="hold" grpId="1001">
                                  <p:stCondLst>
                                    <p:cond delay="4200"/>
                                  </p:stCondLst>
                                  <p:childTnLst>
                                    <p:animScale>
                                      <p:cBhvr>
                                        <p:cTn id="1098" dur="60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9" dur="6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0" fill="hold" grpId="1001">
                                  <p:stCondLst>
                                    <p:cond delay="4400"/>
                                  </p:stCondLst>
                                  <p:childTnLst>
                                    <p:animScale>
                                      <p:cBhvr>
                                        <p:cTn id="1101" dur="600" fill="hold"/>
                                        <p:tgtEl>
                                          <p:spTgt spid="3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2" dur="6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fill="hold" grpId="1001">
                                  <p:stCondLst>
                                    <p:cond delay="4600"/>
                                  </p:stCondLst>
                                  <p:childTnLst>
                                    <p:animScale>
                                      <p:cBhvr>
                                        <p:cTn id="1104" dur="600" fill="hold"/>
                                        <p:tgtEl>
                                          <p:spTgt spid="3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5" dur="6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ЧИМ МИ ВІДРІЗНЯЄМОСЬ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457200" y="640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проти всіх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0" y="1325880"/>
            <a:ext cx="9144000" cy="27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353312"/>
            <a:ext cx="4480560" cy="475488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3533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COSMOS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63440" y="1353312"/>
            <a:ext cx="448056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37760" y="13533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Конкуренти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44568" y="1353312"/>
            <a:ext cx="54864" cy="3749040"/>
          </a:xfrm>
          <a:prstGeom prst="rect">
            <a:avLst/>
          </a:prstGeom>
          <a:solidFill>
            <a:srgbClr val="7A9CC0">
              <a:alpha val="40000"/>
            </a:srgbClr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0" y="1920240"/>
            <a:ext cx="4526280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2011680"/>
            <a:ext cx="365760" cy="36576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391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2020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Вбудована мінігра у стилі Among-Us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084832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17720" y="1920240"/>
            <a:ext cx="4526280" cy="566928"/>
          </a:xfrm>
          <a:prstGeom prst="rect">
            <a:avLst/>
          </a:prstGeom>
          <a:solidFill>
            <a:srgbClr val="150808"/>
          </a:solidFill>
          <a:ln w="12700">
            <a:solidFill>
              <a:srgbClr val="02040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08483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4920" y="2020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Статичний контент без інтерактивності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0" y="2532888"/>
            <a:ext cx="4526280" cy="566928"/>
          </a:xfrm>
          <a:prstGeom prst="rect">
            <a:avLst/>
          </a:prstGeom>
          <a:solidFill>
            <a:srgbClr val="060C18"/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274320" y="2624328"/>
            <a:ext cx="365760" cy="36576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65176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77240" y="2633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AI-тренер з персональними підказками</a:t>
            </a:r>
            <a:endParaRPr lang="en-US" sz="11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2697480"/>
            <a:ext cx="228600" cy="22860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617720" y="2532888"/>
            <a:ext cx="4526280" cy="566928"/>
          </a:xfrm>
          <a:prstGeom prst="rect">
            <a:avLst/>
          </a:prstGeom>
          <a:solidFill>
            <a:srgbClr val="0D0404"/>
          </a:solidFill>
          <a:ln w="12700">
            <a:solidFill>
              <a:srgbClr val="020408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697480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74920" y="2633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Стандартні матеріали без адаптації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0" y="3145536"/>
            <a:ext cx="4526280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274320" y="3236976"/>
            <a:ext cx="365760" cy="36576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3264408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77240" y="32461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рівні, ранги і реальний прогрес</a:t>
            </a:r>
            <a:endParaRPr lang="en-US" sz="11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0520" y="3310128"/>
            <a:ext cx="228600" cy="2286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4617720" y="3145536"/>
            <a:ext cx="4526280" cy="566928"/>
          </a:xfrm>
          <a:prstGeom prst="rect">
            <a:avLst/>
          </a:prstGeom>
          <a:solidFill>
            <a:srgbClr val="150808"/>
          </a:solidFill>
          <a:ln w="12700">
            <a:solidFill>
              <a:srgbClr val="020408"/>
            </a:solidFill>
            <a:prstDash val="solid"/>
          </a:ln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3310128"/>
            <a:ext cx="237744" cy="23774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07492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системи мотивації чи гейміфікації</a:t>
            </a:r>
            <a:endParaRPr lang="en-US" sz="1150" dirty="0"/>
          </a:p>
        </p:txBody>
      </p:sp>
      <p:sp>
        <p:nvSpPr>
          <p:cNvPr id="36" name="Shape 23"/>
          <p:cNvSpPr/>
          <p:nvPr/>
        </p:nvSpPr>
        <p:spPr>
          <a:xfrm>
            <a:off x="0" y="3758184"/>
            <a:ext cx="4526280" cy="566928"/>
          </a:xfrm>
          <a:prstGeom prst="rect">
            <a:avLst/>
          </a:prstGeom>
          <a:solidFill>
            <a:srgbClr val="060C18"/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37" name="Shape 24"/>
          <p:cNvSpPr/>
          <p:nvPr/>
        </p:nvSpPr>
        <p:spPr>
          <a:xfrm>
            <a:off x="274320" y="3849624"/>
            <a:ext cx="365760" cy="36576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40" y="3877056"/>
            <a:ext cx="256032" cy="25603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77240" y="3858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Живе 3D-зоряне поле на Three.js</a:t>
            </a:r>
            <a:endParaRPr lang="en-US" sz="115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0520" y="3922776"/>
            <a:ext cx="228600" cy="228600"/>
          </a:xfrm>
          <a:prstGeom prst="rect">
            <a:avLst/>
          </a:prstGeom>
        </p:spPr>
      </p:pic>
      <p:sp>
        <p:nvSpPr>
          <p:cNvPr id="41" name="Shape 26"/>
          <p:cNvSpPr/>
          <p:nvPr/>
        </p:nvSpPr>
        <p:spPr>
          <a:xfrm>
            <a:off x="4617720" y="3758184"/>
            <a:ext cx="4526280" cy="566928"/>
          </a:xfrm>
          <a:prstGeom prst="rect">
            <a:avLst/>
          </a:prstGeom>
          <a:solidFill>
            <a:srgbClr val="0D0404"/>
          </a:solidFill>
          <a:ln w="12700">
            <a:solidFill>
              <a:srgbClr val="020408"/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9160" y="3922776"/>
            <a:ext cx="237744" cy="237744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074920" y="3858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Плоский або типовий статичний дизайн</a:t>
            </a:r>
            <a:endParaRPr lang="en-US" sz="1150" dirty="0"/>
          </a:p>
        </p:txBody>
      </p:sp>
      <p:sp>
        <p:nvSpPr>
          <p:cNvPr id="44" name="Shape 28"/>
          <p:cNvSpPr/>
          <p:nvPr/>
        </p:nvSpPr>
        <p:spPr>
          <a:xfrm>
            <a:off x="0" y="4370832"/>
            <a:ext cx="4526280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274320" y="4462272"/>
            <a:ext cx="365760" cy="36576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040" y="4489704"/>
            <a:ext cx="256032" cy="256032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777240" y="4471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Щоденні виклики та бос-хвилі</a:t>
            </a:r>
            <a:endParaRPr lang="en-US" sz="115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60520" y="4535424"/>
            <a:ext cx="228600" cy="228600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4617720" y="4370832"/>
            <a:ext cx="4526280" cy="566928"/>
          </a:xfrm>
          <a:prstGeom prst="rect">
            <a:avLst/>
          </a:prstGeom>
          <a:solidFill>
            <a:srgbClr val="150808"/>
          </a:solidFill>
          <a:ln w="12700">
            <a:solidFill>
              <a:srgbClr val="020408"/>
            </a:solidFill>
            <a:prstDash val="solid"/>
          </a:ln>
        </p:spPr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9160" y="4535424"/>
            <a:ext cx="237744" cy="237744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5074920" y="44714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формат без варіацій і прогресу</a:t>
            </a:r>
            <a:endParaRPr lang="en-US" sz="1150" dirty="0"/>
          </a:p>
        </p:txBody>
      </p:sp>
    </p:spTree>
  </p:cSld>
  <p:clrMapOvr>
    <a:masterClrMapping/>
  </p:clrMapOvr>
  <p:transition spd="med">
    <p:split orient="horz" dir="in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09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0" fill="hold" grpId="1000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1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3" fill="hold" grpId="1000">
                                  <p:stCondLst>
                                    <p:cond delay="4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4" dur="4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5" fill="hold" grpId="1000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17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8" fill="hold" grpId="1000">
                                  <p:stCondLst>
                                    <p:cond delay="5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20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1" fill="hold" grpId="1000">
                                  <p:stCondLst>
                                    <p:cond delay="7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2" dur="4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6" dur="4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27" dur="450" fill="hold"/>
                                        <p:tgtEl>
                                          <p:spTgt spid="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8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9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0" dur="45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1" fill="hold" grpId="1001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2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33" dur="45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4" fill="hold" grpId="1001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5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36" dur="45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7" fill="hold" grpId="1001">
                                  <p:stCondLst>
                                    <p:cond delay="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8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39" dur="450" fill="hold"/>
                                        <p:tgtEl>
                                          <p:spTgt spid="1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0" fill="hold" grpId="1001">
                                  <p:stCondLst>
                                    <p:cond delay="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1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42" dur="45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3" fill="hold" grpId="1001">
                                  <p:stCondLst>
                                    <p:cond delay="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4" dur="4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45" dur="450" fill="hold"/>
                                        <p:tgtEl>
                                          <p:spTgt spid="1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6" fill="hold" grpId="1001">
                                  <p:stCondLst>
                                    <p:cond delay="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7" dur="4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48" dur="45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9" fill="hold" grpId="1001">
                                  <p:stCondLst>
                                    <p:cond delay="4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0" dur="4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51" dur="450" fill="hold"/>
                                        <p:tgtEl>
                                          <p:spTgt spid="1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2" fill="hold" grpId="1001">
                                  <p:stCondLst>
                                    <p:cond delay="4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3" dur="4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54" dur="45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5" fill="hold" grpId="1001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6" dur="4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57" dur="450" fill="hold"/>
                                        <p:tgtEl>
                                          <p:spTgt spid="1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8" fill="hold" grpId="1001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9" dur="4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60" dur="45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1" fill="hold" grpId="1001">
                                  <p:stCondLst>
                                    <p:cond delay="7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2" dur="4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63" dur="450" fill="hold"/>
                                        <p:tgtEl>
                                          <p:spTgt spid="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4" fill="hold" grpId="1001">
                                  <p:stCondLst>
                                    <p:cond delay="7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5" dur="4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66" dur="45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7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8" dur="4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69" dur="45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0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1" dur="4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72" dur="45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3" fill="hold" grpId="1001">
                                  <p:stCondLst>
                                    <p:cond delay="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4" dur="4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75" dur="450" fill="hold"/>
                                        <p:tgtEl>
                                          <p:spTgt spid="2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6" fill="hold" grpId="1001">
                                  <p:stCondLst>
                                    <p:cond delay="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7" dur="4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78" dur="45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9" fill="hold" grpId="1001">
                                  <p:stCondLst>
                                    <p:cond delay="1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0" dur="4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81" dur="450" fill="hold"/>
                                        <p:tgtEl>
                                          <p:spTgt spid="2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2" fill="hold" grpId="1001">
                                  <p:stCondLst>
                                    <p:cond delay="1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3" dur="4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84" dur="45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5" fill="hold" grpId="1001">
                                  <p:stCondLst>
                                    <p:cond delay="1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6" dur="45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87" dur="450" fill="hold"/>
                                        <p:tgtEl>
                                          <p:spTgt spid="2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8" fill="hold" grpId="1001">
                                  <p:stCondLst>
                                    <p:cond delay="1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9" dur="45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90" dur="45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1" fill="hold" grpId="1001">
                                  <p:stCondLst>
                                    <p:cond delay="1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2" dur="45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93" dur="450" fill="hold"/>
                                        <p:tgtEl>
                                          <p:spTgt spid="3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4" fill="hold" grpId="1001">
                                  <p:stCondLst>
                                    <p:cond delay="1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5" dur="45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096" dur="45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7" fill="hold" grpId="1001">
                                  <p:stCondLst>
                                    <p:cond delay="1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8" dur="45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099" dur="450" fill="hold"/>
                                        <p:tgtEl>
                                          <p:spTgt spid="3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0" fill="hold" grpId="1001">
                                  <p:stCondLst>
                                    <p:cond delay="1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1" dur="45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02" dur="45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3" fill="hold" grpId="1001">
                                  <p:stCondLst>
                                    <p:cond delay="1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4" dur="45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05" dur="45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6" fill="hold" grpId="1001">
                                  <p:stCondLst>
                                    <p:cond delay="1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7" dur="45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08" dur="45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9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0" dur="45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11" dur="450" fill="hold"/>
                                        <p:tgtEl>
                                          <p:spTgt spid="3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2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3" dur="45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14" dur="45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5" fill="hold" grpId="1001">
                                  <p:stCondLst>
                                    <p:cond delay="1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6" dur="45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17" dur="450" fill="hold"/>
                                        <p:tgtEl>
                                          <p:spTgt spid="3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8" fill="hold" grpId="1001">
                                  <p:stCondLst>
                                    <p:cond delay="1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9" dur="45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20" dur="450" fill="hold"/>
                                        <p:tgtEl>
                                          <p:spTgt spid="4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1" fill="hold" grpId="1001">
                                  <p:stCondLst>
                                    <p:cond delay="19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2" dur="45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23" dur="450" fill="hold"/>
                                        <p:tgtEl>
                                          <p:spTgt spid="4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4" fill="hold" grpId="1001">
                                  <p:stCondLst>
                                    <p:cond delay="19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5" dur="45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26" dur="450" fill="hold"/>
                                        <p:tgtEl>
                                          <p:spTgt spid="4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7" fill="hold" grpId="1001">
                                  <p:stCondLst>
                                    <p:cond delay="20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8" dur="45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29" dur="450" fill="hold"/>
                                        <p:tgtEl>
                                          <p:spTgt spid="4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0" fill="hold" grpId="1001">
                                  <p:stCondLst>
                                    <p:cond delay="20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1" dur="45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32" dur="450" fill="hold"/>
                                        <p:tgtEl>
                                          <p:spTgt spid="4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3" fill="hold" grpId="1001">
                                  <p:stCondLst>
                                    <p:cond delay="2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4" dur="45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35" dur="450" fill="hold"/>
                                        <p:tgtEl>
                                          <p:spTgt spid="4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6" fill="hold" grpId="1001">
                                  <p:stCondLst>
                                    <p:cond delay="2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7" dur="45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38" dur="450" fill="hold"/>
                                        <p:tgtEl>
                                          <p:spTgt spid="4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9" fill="hold" grpId="1001">
                                  <p:stCondLst>
                                    <p:cond delay="2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0" dur="45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41" dur="450" fill="hold"/>
                                        <p:tgtEl>
                                          <p:spTgt spid="4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2" fill="hold" grpId="1001">
                                  <p:stCondLst>
                                    <p:cond delay="2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3" dur="45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44" dur="45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5" fill="hold" grpId="1001">
                                  <p:stCondLst>
                                    <p:cond delay="2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6" dur="450" fill="hold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47" dur="450" fill="hold"/>
                                        <p:tgtEl>
                                          <p:spTgt spid="4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8" fill="hold" grpId="1001">
                                  <p:stCondLst>
                                    <p:cond delay="2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9" dur="450" fill="hold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Motion origin="layout" path="M 0.5 0 L 0 0 E">
                                      <p:cBhvr>
                                        <p:cTn id="1150" dur="45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1" fill="hold" grpId="1001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52" dur="450" fill="hold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Motion origin="layout" path="M -0.5 0 L 0 0 E">
                                      <p:cBhvr>
                                        <p:cTn id="1153" dur="450" fill="hold"/>
                                        <p:tgtEl>
                                          <p:spTgt spid="5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НАШІ ПЕРЕВАГИ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566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обирають Cosmos</a:t>
            </a:r>
            <a:endParaRPr lang="en-US" sz="3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52144"/>
            <a:ext cx="8046720" cy="5486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11480" y="1298448"/>
            <a:ext cx="2606040" cy="1664208"/>
          </a:xfrm>
          <a:prstGeom prst="rect">
            <a:avLst/>
          </a:prstGeom>
          <a:solidFill>
            <a:srgbClr val="0D1F3C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411480" y="1298448"/>
            <a:ext cx="2606040" cy="640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48640" y="14081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1435608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20482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Унікальний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ігровий досвід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4864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через гру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3246120" y="1298448"/>
            <a:ext cx="2606040" cy="1664208"/>
          </a:xfrm>
          <a:prstGeom prst="rect">
            <a:avLst/>
          </a:prstGeom>
          <a:solidFill>
            <a:srgbClr val="0D1F3C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3246120" y="1298448"/>
            <a:ext cx="26060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383280" y="14081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4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1435608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83280" y="20482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Інтелектуальна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адаптація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338328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Персоналізоване навчання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080760" y="1298448"/>
            <a:ext cx="2606040" cy="1664208"/>
          </a:xfrm>
          <a:prstGeom prst="rect">
            <a:avLst/>
          </a:prstGeom>
          <a:solidFill>
            <a:srgbClr val="0D1F3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080760" y="1298448"/>
            <a:ext cx="26060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217920" y="140817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v4.5</a:t>
            </a:r>
            <a:endParaRPr lang="en-US" sz="3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1435608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17920" y="20482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Найновіша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21792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Постійні оновлення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11480" y="3108960"/>
            <a:ext cx="2606040" cy="1664208"/>
          </a:xfrm>
          <a:prstGeom prst="rect">
            <a:avLst/>
          </a:prstGeom>
          <a:solidFill>
            <a:srgbClr val="0D1F3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11480" y="3108960"/>
            <a:ext cx="2606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48640" y="32186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168" y="324612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48640" y="3858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Безкоштовний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48640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підписок і лімітів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3246120" y="3108960"/>
            <a:ext cx="2606040" cy="1664208"/>
          </a:xfrm>
          <a:prstGeom prst="rect">
            <a:avLst/>
          </a:prstGeom>
          <a:solidFill>
            <a:srgbClr val="0D1F3C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3246120" y="3108960"/>
            <a:ext cx="260604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383280" y="32186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</a:t>
            </a:r>
            <a:endParaRPr lang="en-US" sz="3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1808" y="3246120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383280" y="3858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Повністю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українська мова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3383280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Локалізований контент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080760" y="3108960"/>
            <a:ext cx="2606040" cy="1664208"/>
          </a:xfrm>
          <a:prstGeom prst="rect">
            <a:avLst/>
          </a:prstGeom>
          <a:solidFill>
            <a:srgbClr val="0D1F3C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080760" y="3108960"/>
            <a:ext cx="2606040" cy="640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217920" y="32186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</a:t>
            </a:r>
            <a:endParaRPr lang="en-US" sz="34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6448" y="3246120"/>
            <a:ext cx="365760" cy="36576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217920" y="3858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Плавна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анімація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6217920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рендеринг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08" dur="3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3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1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2" fill="hold" grpId="1000">
                                  <p:stCondLst>
                                    <p:cond delay="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4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5" fill="hold" grpId="1000">
                                  <p:stCondLst>
                                    <p:cond delay="4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7" fill="hold">
                      <p:stCondLst>
                        <p:cond delay="indefinite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id="1019" fill="hold" grpId="1001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20" dur="550" fill="hold"/>
                                        <p:tgtEl>
                                          <p:spTgt spid="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21" dur="55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23" dur="550" fill="hold"/>
                                        <p:tgtEl>
                                          <p:spTgt spid="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24" dur="55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fill="hold" grpId="1001">
                                  <p:stCondLst>
                                    <p:cond delay="280"/>
                                  </p:stCondLst>
                                  <p:childTnLst>
                                    <p:animScale>
                                      <p:cBhvr>
                                        <p:cTn id="1026" dur="550" fill="hold"/>
                                        <p:tgtEl>
                                          <p:spTgt spid="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27" dur="55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8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29" dur="550" fill="hold"/>
                                        <p:tgtEl>
                                          <p:spTgt spid="10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0" dur="55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1" fill="hold" grpId="1001">
                                  <p:stCondLst>
                                    <p:cond delay="560"/>
                                  </p:stCondLst>
                                  <p:childTnLst>
                                    <p:animScale>
                                      <p:cBhvr>
                                        <p:cTn id="1032" dur="55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3" dur="55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4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35" dur="550" fill="hold"/>
                                        <p:tgtEl>
                                          <p:spTgt spid="1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6" dur="55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7" fill="hold">
                      <p:stCondLst>
                        <p:cond delay="indefinite"/>
                      </p:stCondLst>
                      <p:childTnLst>
                        <p:par>
                          <p:cTn id="1038" fill="hold">
                            <p:stCondLst>
                              <p:cond delay="0"/>
                            </p:stCondLst>
                            <p:childTnLst>
                              <p:par>
                                <p:cTn id="1039" fill="hold" grpId="1002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40" dur="55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1" dur="55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fill="hold" grpId="1002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43" dur="550" fill="hold"/>
                                        <p:tgtEl>
                                          <p:spTgt spid="1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5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2">
                                  <p:stCondLst>
                                    <p:cond delay="280"/>
                                  </p:stCondLst>
                                  <p:childTnLst>
                                    <p:animScale>
                                      <p:cBhvr>
                                        <p:cTn id="1046" dur="55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7" dur="55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fill="hold" grpId="1002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49" dur="550" fill="hold"/>
                                        <p:tgtEl>
                                          <p:spTgt spid="1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5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2">
                                  <p:stCondLst>
                                    <p:cond delay="560"/>
                                  </p:stCondLst>
                                  <p:childTnLst>
                                    <p:animScale>
                                      <p:cBhvr>
                                        <p:cTn id="1052" dur="55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3" dur="5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fill="hold" grpId="1002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55" dur="550" fill="hold"/>
                                        <p:tgtEl>
                                          <p:spTgt spid="1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2">
                                  <p:stCondLst>
                                    <p:cond delay="840"/>
                                  </p:stCondLst>
                                  <p:childTnLst>
                                    <p:animScale>
                                      <p:cBhvr>
                                        <p:cTn id="1058" dur="55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9" dur="55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0" fill="hold" grpId="1002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61" dur="550" fill="hold"/>
                                        <p:tgtEl>
                                          <p:spTgt spid="20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5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2">
                                  <p:stCondLst>
                                    <p:cond delay="1120"/>
                                  </p:stCondLst>
                                  <p:childTnLst>
                                    <p:animScale>
                                      <p:cBhvr>
                                        <p:cTn id="1064" dur="55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5" dur="55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6" fill="hold" grpId="1002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67" dur="550" fill="hold"/>
                                        <p:tgtEl>
                                          <p:spTgt spid="2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5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2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070" dur="55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1" dur="55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fill="hold" grpId="1002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73" dur="550" fill="hold"/>
                                        <p:tgtEl>
                                          <p:spTgt spid="2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5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fill="hold" grpId="1002">
                                  <p:stCondLst>
                                    <p:cond delay="1680"/>
                                  </p:stCondLst>
                                  <p:childTnLst>
                                    <p:animScale>
                                      <p:cBhvr>
                                        <p:cTn id="1076" dur="55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7" dur="55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8" fill="hold" grpId="1002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79" dur="550" fill="hold"/>
                                        <p:tgtEl>
                                          <p:spTgt spid="2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0" dur="55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fill="hold" grpId="1002">
                                  <p:stCondLst>
                                    <p:cond delay="1960"/>
                                  </p:stCondLst>
                                  <p:childTnLst>
                                    <p:animScale>
                                      <p:cBhvr>
                                        <p:cTn id="1082" dur="55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3" dur="55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4" fill="hold" grpId="1002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85" dur="550" fill="hold"/>
                                        <p:tgtEl>
                                          <p:spTgt spid="2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6" dur="55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fill="hold" grpId="1002">
                                  <p:stCondLst>
                                    <p:cond delay="2240"/>
                                  </p:stCondLst>
                                  <p:childTnLst>
                                    <p:animScale>
                                      <p:cBhvr>
                                        <p:cTn id="1088" dur="55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9" dur="55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0" fill="hold" grpId="1002">
                                  <p:stCondLst>
                                    <p:cond delay="2380"/>
                                  </p:stCondLst>
                                  <p:childTnLst>
                                    <p:animScale>
                                      <p:cBhvr>
                                        <p:cTn id="1091" dur="550" fill="hold"/>
                                        <p:tgtEl>
                                          <p:spTgt spid="30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2" dur="55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fill="hold" grpId="1002">
                                  <p:stCondLst>
                                    <p:cond delay="2520"/>
                                  </p:stCondLst>
                                  <p:childTnLst>
                                    <p:animScale>
                                      <p:cBhvr>
                                        <p:cTn id="1094" dur="55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5" dur="55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fill="hold" grpId="1002">
                                  <p:stCondLst>
                                    <p:cond delay="2660"/>
                                  </p:stCondLst>
                                  <p:childTnLst>
                                    <p:animScale>
                                      <p:cBhvr>
                                        <p:cTn id="1097" dur="550" fill="hold"/>
                                        <p:tgtEl>
                                          <p:spTgt spid="3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8" dur="55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fill="hold" grpId="1002">
                                  <p:stCondLst>
                                    <p:cond delay="2800"/>
                                  </p:stCondLst>
                                  <p:childTnLst>
                                    <p:animScale>
                                      <p:cBhvr>
                                        <p:cTn id="1100" dur="55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1" dur="55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fill="hold" grpId="1002">
                                  <p:stCondLst>
                                    <p:cond delay="2940"/>
                                  </p:stCondLst>
                                  <p:childTnLst>
                                    <p:animScale>
                                      <p:cBhvr>
                                        <p:cTn id="1103" dur="550" fill="hold"/>
                                        <p:tgtEl>
                                          <p:spTgt spid="3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4" dur="55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fill="hold" grpId="1002">
                                  <p:stCondLst>
                                    <p:cond delay="3080"/>
                                  </p:stCondLst>
                                  <p:childTnLst>
                                    <p:animScale>
                                      <p:cBhvr>
                                        <p:cTn id="1106" dur="550" fill="hold"/>
                                        <p:tgtEl>
                                          <p:spTgt spid="3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7" dur="55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fill="hold" grpId="1002">
                                  <p:stCondLst>
                                    <p:cond delay="3220"/>
                                  </p:stCondLst>
                                  <p:childTnLst>
                                    <p:animScale>
                                      <p:cBhvr>
                                        <p:cTn id="1109" dur="550" fill="hold"/>
                                        <p:tgtEl>
                                          <p:spTgt spid="3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0" dur="55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1" fill="hold" grpId="1002">
                                  <p:stCondLst>
                                    <p:cond delay="3360"/>
                                  </p:stCondLst>
                                  <p:childTnLst>
                                    <p:animScale>
                                      <p:cBhvr>
                                        <p:cTn id="1112" dur="550" fill="hold"/>
                                        <p:tgtEl>
                                          <p:spTgt spid="3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3" dur="55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4" fill="hold" grpId="1002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1115" dur="550" fill="hold"/>
                                        <p:tgtEl>
                                          <p:spTgt spid="3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6" dur="55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7" fill="hold" grpId="1002">
                                  <p:stCondLst>
                                    <p:cond delay="3640"/>
                                  </p:stCondLst>
                                  <p:childTnLst>
                                    <p:animScale>
                                      <p:cBhvr>
                                        <p:cTn id="1118" dur="550" fill="hold"/>
                                        <p:tgtEl>
                                          <p:spTgt spid="3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9" dur="55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0" fill="hold" grpId="1002">
                                  <p:stCondLst>
                                    <p:cond delay="3780"/>
                                  </p:stCondLst>
                                  <p:childTnLst>
                                    <p:animScale>
                                      <p:cBhvr>
                                        <p:cTn id="1121" dur="550" fill="hold"/>
                                        <p:tgtEl>
                                          <p:spTgt spid="40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2" dur="55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3" fill="hold" grpId="1002">
                                  <p:stCondLst>
                                    <p:cond delay="3920"/>
                                  </p:stCondLst>
                                  <p:childTnLst>
                                    <p:animScale>
                                      <p:cBhvr>
                                        <p:cTn id="1124" dur="550" fill="hold"/>
                                        <p:tgtEl>
                                          <p:spTgt spid="4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5" dur="55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fill="hold" grpId="1002">
                                  <p:stCondLst>
                                    <p:cond delay="4060"/>
                                  </p:stCondLst>
                                  <p:childTnLst>
                                    <p:animScale>
                                      <p:cBhvr>
                                        <p:cTn id="1127" dur="550" fill="hold"/>
                                        <p:tgtEl>
                                          <p:spTgt spid="4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8" dur="55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9" fill="hold" grpId="1002">
                                  <p:stCondLst>
                                    <p:cond delay="4200"/>
                                  </p:stCondLst>
                                  <p:childTnLst>
                                    <p:animScale>
                                      <p:cBhvr>
                                        <p:cTn id="1130" dur="550" fill="hold"/>
                                        <p:tgtEl>
                                          <p:spTgt spid="4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31" dur="55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-914400"/>
            <a:ext cx="7315200" cy="6400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-914400"/>
            <a:ext cx="7315200" cy="6400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0" y="1828800"/>
            <a:ext cx="5486400" cy="54864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810">
              <a:alpha val="60000"/>
            </a:srgbClr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0" y="54864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spc="2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88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920240"/>
            <a:ext cx="7315200" cy="7315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ідеї до легенди</a:t>
            </a:r>
            <a:endParaRPr lang="en-US" sz="2000" dirty="0"/>
          </a:p>
        </p:txBody>
      </p:sp>
      <p:sp>
        <p:nvSpPr>
          <p:cNvPr id="12" name="Shape 5"/>
          <p:cNvSpPr/>
          <p:nvPr/>
        </p:nvSpPr>
        <p:spPr>
          <a:xfrm>
            <a:off x="979424" y="2697480"/>
            <a:ext cx="682752" cy="384048"/>
          </a:xfrm>
          <a:prstGeom prst="roundRect">
            <a:avLst>
              <a:gd name="adj" fmla="val 19048"/>
            </a:avLst>
          </a:prstGeom>
          <a:solidFill>
            <a:srgbClr val="7A9CC0">
              <a:alpha val="20000"/>
            </a:srgbClr>
          </a:solidFill>
          <a:ln w="19050">
            <a:solidFill>
              <a:srgbClr val="7A9CC0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9144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17272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2605024" y="2697480"/>
            <a:ext cx="682752" cy="384048"/>
          </a:xfrm>
          <a:prstGeom prst="roundRect">
            <a:avLst>
              <a:gd name="adj" fmla="val 19048"/>
            </a:avLst>
          </a:prstGeom>
          <a:solidFill>
            <a:srgbClr val="A855F7">
              <a:alpha val="20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25400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33528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230624" y="2697480"/>
            <a:ext cx="682752" cy="384048"/>
          </a:xfrm>
          <a:prstGeom prst="roundRect">
            <a:avLst>
              <a:gd name="adj" fmla="val 19048"/>
            </a:avLst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1656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9784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5856224" y="2697480"/>
            <a:ext cx="682752" cy="384048"/>
          </a:xfrm>
          <a:prstGeom prst="roundRect">
            <a:avLst>
              <a:gd name="adj" fmla="val 19048"/>
            </a:avLst>
          </a:prstGeom>
          <a:solidFill>
            <a:srgbClr val="00D2FF">
              <a:alpha val="20000"/>
            </a:srgbClr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7912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6040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481824" y="2697480"/>
            <a:ext cx="682752" cy="384048"/>
          </a:xfrm>
          <a:prstGeom prst="roundRect">
            <a:avLst>
              <a:gd name="adj" fmla="val 19048"/>
            </a:avLst>
          </a:prstGeom>
          <a:solidFill>
            <a:srgbClr val="F43F5E">
              <a:alpha val="20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416800" y="2697480"/>
            <a:ext cx="81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v4.5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914400" y="3291840"/>
            <a:ext cx="2377440" cy="146304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14400" y="3291840"/>
            <a:ext cx="2377440" cy="640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14400" y="3401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4600" dirty="0"/>
          </a:p>
        </p:txBody>
      </p:sp>
      <p:sp>
        <p:nvSpPr>
          <p:cNvPr id="29" name="Text 22"/>
          <p:cNvSpPr/>
          <p:nvPr/>
        </p:nvSpPr>
        <p:spPr>
          <a:xfrm>
            <a:off x="91440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Роки розробки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566160" y="3291840"/>
            <a:ext cx="2377440" cy="146304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66160" y="3291840"/>
            <a:ext cx="23774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566160" y="3401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4600" dirty="0"/>
          </a:p>
        </p:txBody>
      </p:sp>
      <p:sp>
        <p:nvSpPr>
          <p:cNvPr id="33" name="Text 26"/>
          <p:cNvSpPr/>
          <p:nvPr/>
        </p:nvSpPr>
        <p:spPr>
          <a:xfrm>
            <a:off x="356616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коду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217920" y="3291840"/>
            <a:ext cx="2377440" cy="1463040"/>
          </a:xfrm>
          <a:prstGeom prst="rect">
            <a:avLst/>
          </a:prstGeom>
          <a:solidFill>
            <a:srgbClr val="0D1F3C">
              <a:alpha val="80000"/>
            </a:srgbClr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17920" y="3291840"/>
            <a:ext cx="23774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217920" y="34015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600" dirty="0"/>
          </a:p>
        </p:txBody>
      </p:sp>
      <p:sp>
        <p:nvSpPr>
          <p:cNvPr id="37" name="Text 30"/>
          <p:cNvSpPr/>
          <p:nvPr/>
        </p:nvSpPr>
        <p:spPr>
          <a:xfrm>
            <a:off x="621792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Можливостей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Дякуємо за увагу  ·  COSMOS v4.5  ·  2025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4" dur="4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5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16" dur="4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018" dur="900" fill="hold"/>
                                        <p:tgtEl>
                                          <p:spTgt spid="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19" dur="9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9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1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fill="hold" grpId="1000">
                                  <p:stCondLst>
                                    <p:cond delay="1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3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4" dur="6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28" dur="4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29" dur="4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031" dur="400" fill="hold"/>
                                        <p:tgtEl>
                                          <p:spTgt spid="12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4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034" dur="4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5" dur="4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37" dur="400" fill="hold"/>
                                        <p:tgtEl>
                                          <p:spTgt spid="14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4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040" dur="4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1" dur="4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43" dur="400" fill="hold"/>
                                        <p:tgtEl>
                                          <p:spTgt spid="16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4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046" dur="4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7" dur="4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9" dur="400" fill="hold"/>
                                        <p:tgtEl>
                                          <p:spTgt spid="18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4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052" dur="4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3" dur="4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4" fill="hold">
                      <p:stCondLst>
                        <p:cond delay="indefinite"/>
                      </p:stCondLst>
                      <p:childTnLst>
                        <p:par>
                          <p:cTn id="1055" fill="hold">
                            <p:stCondLst>
                              <p:cond delay="0"/>
                            </p:stCondLst>
                            <p:childTnLst>
                              <p:par>
                                <p:cTn id="1056" fill="hold" grpId="1002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7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8" dur="6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9" fill="hold" grpId="1002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0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1" dur="600" fill="hold"/>
                                        <p:tgtEl>
                                          <p:spTgt spid="2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2" fill="hold" grpId="1002">
                                  <p:stCondLst>
                                    <p:cond delay="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3" dur="6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4" dur="6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5" fill="hold" grpId="1002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6" dur="6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7" dur="600" fill="hold"/>
                                        <p:tgtEl>
                                          <p:spTgt spid="2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8" fill="hold" grpId="1002">
                                  <p:stCondLst>
                                    <p:cond delay="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9" dur="6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0" dur="6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1" fill="hold" grpId="1002">
                                  <p:stCondLst>
                                    <p:cond delay="1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2" dur="6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3" dur="600" fill="hold"/>
                                        <p:tgtEl>
                                          <p:spTgt spid="2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4" fill="hold" grpId="1002">
                                  <p:stCondLst>
                                    <p:cond delay="1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5" dur="6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6" dur="6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7" fill="hold" grpId="1002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8" dur="6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9" dur="600" fill="hold"/>
                                        <p:tgtEl>
                                          <p:spTgt spid="2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0" fill="hold" grpId="1002">
                                  <p:stCondLst>
                                    <p:cond delay="1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1" dur="6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2" dur="6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3" fill="hold" grpId="1002">
                                  <p:stCondLst>
                                    <p:cond delay="1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4" dur="6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5" dur="600" fill="hold"/>
                                        <p:tgtEl>
                                          <p:spTgt spid="2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6" fill="hold" grpId="1002">
                                  <p:stCondLst>
                                    <p:cond delay="2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7" dur="6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8" dur="6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9" fill="hold" grpId="1002">
                                  <p:stCondLst>
                                    <p:cond delay="2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0" dur="6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1" dur="600" fill="hold"/>
                                        <p:tgtEl>
                                          <p:spTgt spid="31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2" fill="hold" grpId="1002">
                                  <p:stCondLst>
                                    <p:cond delay="2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3" dur="6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4" dur="6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5" fill="hold" grpId="1002">
                                  <p:stCondLst>
                                    <p:cond delay="2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6" dur="6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7" dur="600" fill="hold"/>
                                        <p:tgtEl>
                                          <p:spTgt spid="33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8" fill="hold" grpId="1002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9" dur="6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0" dur="6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1" fill="hold" grpId="1002">
                                  <p:stCondLst>
                                    <p:cond delay="30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2" dur="6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3" dur="600" fill="hold"/>
                                        <p:tgtEl>
                                          <p:spTgt spid="3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4" fill="hold" grpId="1002">
                                  <p:stCondLst>
                                    <p:cond delay="3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5" dur="6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6" dur="60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7" fill="hold" grpId="1002">
                                  <p:stCondLst>
                                    <p:cond delay="3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8" dur="6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9" dur="600" fill="hold"/>
                                        <p:tgtEl>
                                          <p:spTgt spid="3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0" fill="hold" grpId="1002">
                                  <p:stCondLst>
                                    <p:cond delay="3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1" dur="6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2" dur="60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МІНІГРА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548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Meteorite Attack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5720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Унікальна space-shooter інтегрована прямо в застосунок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8229600" cy="548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65760" y="1828800"/>
            <a:ext cx="2011680" cy="3017520"/>
          </a:xfrm>
          <a:prstGeom prst="rect">
            <a:avLst/>
          </a:prstGeom>
          <a:solidFill>
            <a:srgbClr val="0D1F3C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65760" y="1828800"/>
            <a:ext cx="2011680" cy="594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029968"/>
            <a:ext cx="420624" cy="4206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Among-Us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Корабель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57200" y="3337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Персонаж-керований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зміною кольору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пауер-апах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2560320" y="1828800"/>
            <a:ext cx="2011680" cy="3017520"/>
          </a:xfrm>
          <a:prstGeom prst="rect">
            <a:avLst/>
          </a:prstGeom>
          <a:solidFill>
            <a:srgbClr val="0D1F3C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2560320" y="1828800"/>
            <a:ext cx="201168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200400" y="1965960"/>
            <a:ext cx="731520" cy="731520"/>
          </a:xfrm>
          <a:prstGeom prst="ellipse">
            <a:avLst/>
          </a:prstGeom>
          <a:solidFill>
            <a:srgbClr val="00D2FF">
              <a:alpha val="20000"/>
            </a:srgbClr>
          </a:solidFill>
          <a:ln w="12700">
            <a:solidFill>
              <a:srgbClr val="00D2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029968"/>
            <a:ext cx="420624" cy="4206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6517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Хвилі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Ворогів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2651760" y="3337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Базові, броньовані,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 та стрілецькі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астероїдів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754880" y="1828800"/>
            <a:ext cx="2011680" cy="3017520"/>
          </a:xfrm>
          <a:prstGeom prst="rect">
            <a:avLst/>
          </a:prstGeom>
          <a:solidFill>
            <a:srgbClr val="0D1F3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754880" y="1828800"/>
            <a:ext cx="2011680" cy="594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394960" y="1965960"/>
            <a:ext cx="731520" cy="73152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8968" y="2029968"/>
            <a:ext cx="420624" cy="42062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84632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Пауер-апи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846320" y="3337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Щит, прискорення,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бомба — тактичний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геймплей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6949440" y="1828800"/>
            <a:ext cx="2011680" cy="3017520"/>
          </a:xfrm>
          <a:prstGeom prst="rect">
            <a:avLst/>
          </a:prstGeom>
          <a:solidFill>
            <a:srgbClr val="0D1F3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949440" y="1828800"/>
            <a:ext cx="201168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589520" y="1965960"/>
            <a:ext cx="731520" cy="73152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2029968"/>
            <a:ext cx="420624" cy="42062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4088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та Рекорди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7040880" y="33375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гра дає XP,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комбо-множники,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постійні рекорди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61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6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1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73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fill="hold" grpId="1001">
                                  <p:stCondLst>
                                    <p:cond delay="2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1">
                                  <p:stCondLst>
                                    <p:cond delay="2380"/>
                                  </p:stCondLst>
                                  <p:childTnLst>
                                    <p:animScale>
                                      <p:cBhvr>
                                        <p:cTn id="1079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fill="hold" grpId="1001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1">
                                  <p:stCondLst>
                                    <p:cond delay="2660"/>
                                  </p:stCondLst>
                                  <p:childTnLst>
                                    <p:animScale>
                                      <p:cBhvr>
                                        <p:cTn id="1085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6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fill="hold" grpId="1001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9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1">
                                  <p:stCondLst>
                                    <p:cond delay="2940"/>
                                  </p:stCondLst>
                                  <p:childTnLst>
                                    <p:animScale>
                                      <p:cBhvr>
                                        <p:cTn id="1091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2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fill="hold" grpId="1001">
                                  <p:stCondLst>
                                    <p:cond delay="3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СИСТЕМА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65836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Прогрес, що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мотивує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457200" y="16642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дія дає досвід — від місій до мінігри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4572000" cy="5486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57200" y="2286000"/>
            <a:ext cx="438912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7A9CC0">
                <a:alpha val="70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57200" y="2286000"/>
            <a:ext cx="41148" cy="475488"/>
          </a:xfrm>
          <a:prstGeom prst="rect">
            <a:avLst/>
          </a:prstGeom>
          <a:solidFill>
            <a:srgbClr val="7A9CC0"/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94360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Рядовий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194560" y="2377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200400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0–500 XP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2816352"/>
            <a:ext cx="4389120" cy="475488"/>
          </a:xfrm>
          <a:prstGeom prst="rect">
            <a:avLst/>
          </a:prstGeom>
          <a:solidFill>
            <a:srgbClr val="0D1F3C">
              <a:alpha val="92000"/>
            </a:srgbClr>
          </a:solidFill>
          <a:ln w="12700">
            <a:solidFill>
              <a:srgbClr val="00D2FF">
                <a:alpha val="7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57200" y="2816352"/>
            <a:ext cx="41148" cy="47548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94360" y="2907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Фахівець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194560" y="29077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200400" y="29077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500–2000 XP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346704"/>
            <a:ext cx="4389120" cy="475488"/>
          </a:xfrm>
          <a:prstGeom prst="rect">
            <a:avLst/>
          </a:prstGeom>
          <a:solidFill>
            <a:srgbClr val="0D1F3C">
              <a:alpha val="84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3346704"/>
            <a:ext cx="41148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436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Лейтенант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194560" y="34381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0040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2000–5000 XP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877056"/>
            <a:ext cx="4389120" cy="475488"/>
          </a:xfrm>
          <a:prstGeom prst="rect">
            <a:avLst/>
          </a:prstGeom>
          <a:solidFill>
            <a:srgbClr val="0D1F3C">
              <a:alpha val="76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3877056"/>
            <a:ext cx="41148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94360" y="39684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Командир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2194560" y="39684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21–35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200400" y="39684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5000–15K XP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4407408"/>
            <a:ext cx="4389120" cy="475488"/>
          </a:xfrm>
          <a:prstGeom prst="rect">
            <a:avLst/>
          </a:prstGeom>
          <a:solidFill>
            <a:srgbClr val="0D1F3C">
              <a:alpha val="68000"/>
            </a:srgbClr>
          </a:solidFill>
          <a:ln w="12700">
            <a:solidFill>
              <a:srgbClr val="F43F5E">
                <a:alpha val="7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57200" y="4407408"/>
            <a:ext cx="41148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9436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Адмірал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2194560" y="4498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36+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200400" y="4498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15000+ XP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0" y="457200"/>
            <a:ext cx="3383280" cy="4389120"/>
          </a:xfrm>
          <a:prstGeom prst="rect">
            <a:avLst/>
          </a:prstGeom>
          <a:solidFill>
            <a:srgbClr val="0D1F3C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486400" y="457200"/>
            <a:ext cx="3383280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577840" y="594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ЗАРОБИТИ XP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669280" y="1188720"/>
            <a:ext cx="411480" cy="4114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225296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17920" y="1179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Мінігра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217920" y="1444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+8/очко + хвиля×8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669280" y="1847088"/>
            <a:ext cx="411480" cy="4114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883664"/>
            <a:ext cx="292608" cy="29260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217920" y="1837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Місії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6217920" y="2103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+25–100 XP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5669280" y="2505456"/>
            <a:ext cx="411480" cy="4114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542032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217920" y="2496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Комбо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6217920" y="27614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XP / комбо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5669280" y="3163824"/>
            <a:ext cx="411480" cy="4114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3200400"/>
            <a:ext cx="292608" cy="29260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21792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Щоденний вхід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6217920" y="3419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XP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5669280" y="3822192"/>
            <a:ext cx="411480" cy="4114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3858768"/>
            <a:ext cx="292608" cy="29260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6217920" y="3813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Досягнення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6217920" y="40782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+50–500 XP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61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6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1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73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fill="hold" grpId="1001">
                                  <p:stCondLst>
                                    <p:cond delay="2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1">
                                  <p:stCondLst>
                                    <p:cond delay="2380"/>
                                  </p:stCondLst>
                                  <p:childTnLst>
                                    <p:animScale>
                                      <p:cBhvr>
                                        <p:cTn id="1079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fill="hold" grpId="1001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1">
                                  <p:stCondLst>
                                    <p:cond delay="2660"/>
                                  </p:stCondLst>
                                  <p:childTnLst>
                                    <p:animScale>
                                      <p:cBhvr>
                                        <p:cTn id="1085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6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fill="hold" grpId="1001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9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1">
                                  <p:stCondLst>
                                    <p:cond delay="2940"/>
                                  </p:stCondLst>
                                  <p:childTnLst>
                                    <p:animScale>
                                      <p:cBhvr>
                                        <p:cTn id="1091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2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fill="hold" grpId="1001">
                                  <p:stCondLst>
                                    <p:cond delay="3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6" fill="hold" grpId="1001">
                                  <p:stCondLst>
                                    <p:cond delay="3220"/>
                                  </p:stCondLst>
                                  <p:childTnLst>
                                    <p:animScale>
                                      <p:cBhvr>
                                        <p:cTn id="1097" dur="50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8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fill="hold" grpId="1001">
                                  <p:stCondLst>
                                    <p:cond delay="3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0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1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2" fill="hold" grpId="1001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1103" dur="500" fill="hold"/>
                                        <p:tgtEl>
                                          <p:spTgt spid="3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4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fill="hold" grpId="1001">
                                  <p:stCondLst>
                                    <p:cond delay="36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6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7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8" fill="hold" grpId="1001">
                                  <p:stCondLst>
                                    <p:cond delay="3780"/>
                                  </p:stCondLst>
                                  <p:childTnLst>
                                    <p:animScale>
                                      <p:cBhvr>
                                        <p:cTn id="1109" dur="500" fill="hold"/>
                                        <p:tgtEl>
                                          <p:spTgt spid="3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0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1" fill="hold" grpId="1001">
                                  <p:stCondLst>
                                    <p:cond delay="39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2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3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4" fill="hold" grpId="1001">
                                  <p:stCondLst>
                                    <p:cond delay="4060"/>
                                  </p:stCondLst>
                                  <p:childTnLst>
                                    <p:animScale>
                                      <p:cBhvr>
                                        <p:cTn id="1115" dur="500" fill="hold"/>
                                        <p:tgtEl>
                                          <p:spTgt spid="3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6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7" fill="hold" grpId="1001">
                                  <p:stCondLst>
                                    <p:cond delay="4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8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9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0" fill="hold" grpId="1001">
                                  <p:stCondLst>
                                    <p:cond delay="4340"/>
                                  </p:stCondLst>
                                  <p:childTnLst>
                                    <p:animScale>
                                      <p:cBhvr>
                                        <p:cTn id="1121" dur="500" fill="hold"/>
                                        <p:tgtEl>
                                          <p:spTgt spid="4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2" dur="50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3" fill="hold" grpId="1001">
                                  <p:stCondLst>
                                    <p:cond delay="44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4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25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6" fill="hold" grpId="1001">
                                  <p:stCondLst>
                                    <p:cond delay="4620"/>
                                  </p:stCondLst>
                                  <p:childTnLst>
                                    <p:animScale>
                                      <p:cBhvr>
                                        <p:cTn id="1127" dur="500" fill="hold"/>
                                        <p:tgtEl>
                                          <p:spTgt spid="4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8" dur="50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9" fill="hold" grpId="1001">
                                  <p:stCondLst>
                                    <p:cond delay="47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0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31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2" fill="hold" grpId="1001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133" dur="500" fill="hold"/>
                                        <p:tgtEl>
                                          <p:spTgt spid="4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34" dur="50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5" fill="hold" grpId="1001">
                                  <p:stCondLst>
                                    <p:cond delay="50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6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37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8" fill="hold" grpId="1001">
                                  <p:stCondLst>
                                    <p:cond delay="5180"/>
                                  </p:stCondLst>
                                  <p:childTnLst>
                                    <p:animScale>
                                      <p:cBhvr>
                                        <p:cTn id="1139" dur="500" fill="hold"/>
                                        <p:tgtEl>
                                          <p:spTgt spid="4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40" dur="50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1" fill="hold" grpId="1001">
                                  <p:stCondLst>
                                    <p:cond delay="5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2" dur="50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43" dur="50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4" fill="hold" grpId="1001">
                                  <p:stCondLst>
                                    <p:cond delay="5460"/>
                                  </p:stCondLst>
                                  <p:childTnLst>
                                    <p:animScale>
                                      <p:cBhvr>
                                        <p:cTn id="1145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46" dur="500" fill="hold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7" fill="hold" grpId="1001">
                                  <p:stCondLst>
                                    <p:cond delay="56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8" dur="500" fill="hold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49" dur="500" fill="hold"/>
                                        <p:tgtEl>
                                          <p:spTgt spid="5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0" fill="hold" grpId="1001">
                                  <p:stCondLst>
                                    <p:cond delay="5740"/>
                                  </p:stCondLst>
                                  <p:childTnLst>
                                    <p:animScale>
                                      <p:cBhvr>
                                        <p:cTn id="1151" dur="500" fill="hold"/>
                                        <p:tgtEl>
                                          <p:spTgt spid="5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52" dur="500" fill="hold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3" fill="hold" grpId="1001">
                                  <p:stCondLst>
                                    <p:cond delay="58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54" dur="500" fill="hold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55" dur="500" fill="hold"/>
                                        <p:tgtEl>
                                          <p:spTgt spid="5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6" fill="hold" grpId="1001">
                                  <p:stCondLst>
                                    <p:cond delay="6020"/>
                                  </p:stCondLst>
                                  <p:childTnLst>
                                    <p:animScale>
                                      <p:cBhvr>
                                        <p:cTn id="1157" dur="500" fill="hold"/>
                                        <p:tgtEl>
                                          <p:spTgt spid="5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58" dur="500" fill="hold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9" fill="hold" grpId="1001">
                                  <p:stCondLst>
                                    <p:cond delay="61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60" dur="500" fill="hold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61" dur="500" fill="hold"/>
                                        <p:tgtEl>
                                          <p:spTgt spid="5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62" fill="hold" grpId="1001">
                                  <p:stCondLst>
                                    <p:cond delay="6300"/>
                                  </p:stCondLst>
                                  <p:childTnLst>
                                    <p:animScale>
                                      <p:cBhvr>
                                        <p:cTn id="1163" dur="500" fill="hold"/>
                                        <p:tgtEl>
                                          <p:spTgt spid="5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64" dur="500" fill="hold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5" fill="hold" grpId="1001">
                                  <p:stCondLst>
                                    <p:cond delay="6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66" dur="500" fill="hold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67" dur="500" fill="hold"/>
                                        <p:tgtEl>
                                          <p:spTgt spid="5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МІСІЇ ТА ДОСЯГНЕННЯ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Завжди є ціль</a:t>
            </a:r>
            <a:endParaRPr lang="en-US" sz="3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5486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65760" y="1417320"/>
            <a:ext cx="2697480" cy="1600200"/>
          </a:xfrm>
          <a:prstGeom prst="rect">
            <a:avLst/>
          </a:prstGeom>
          <a:solidFill>
            <a:srgbClr val="0D1F3C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365760" y="2958084"/>
            <a:ext cx="269748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75488" y="1600200"/>
            <a:ext cx="594360" cy="594360"/>
          </a:xfrm>
          <a:prstGeom prst="ellipse">
            <a:avLst/>
          </a:prstGeom>
          <a:solidFill>
            <a:srgbClr val="00D2FF">
              <a:alpha val="20000"/>
            </a:srgbClr>
          </a:solidFill>
          <a:ln w="12700">
            <a:solidFill>
              <a:srgbClr val="00D2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3677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Дослідження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1430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місій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75488" y="2441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Відкрий усі планети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3291840" y="1417320"/>
            <a:ext cx="2697480" cy="1600200"/>
          </a:xfrm>
          <a:prstGeom prst="rect">
            <a:avLst/>
          </a:prstGeom>
          <a:solidFill>
            <a:srgbClr val="0D1F3C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291840" y="2958084"/>
            <a:ext cx="2697480" cy="594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401568" y="1600200"/>
            <a:ext cx="594360" cy="59436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636776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06908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Бойові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0690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місій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401568" y="2441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Знищ 100 астероїдів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217920" y="1417320"/>
            <a:ext cx="2697480" cy="1600200"/>
          </a:xfrm>
          <a:prstGeom prst="rect">
            <a:avLst/>
          </a:prstGeom>
          <a:solidFill>
            <a:srgbClr val="0D1F3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217920" y="2958084"/>
            <a:ext cx="269748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327648" y="1600200"/>
            <a:ext cx="594360" cy="59436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636776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516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Рекорди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9951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місій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327648" y="24414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Досягни 10000 очок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365760" y="3200400"/>
            <a:ext cx="2697480" cy="1600200"/>
          </a:xfrm>
          <a:prstGeom prst="rect">
            <a:avLst/>
          </a:prstGeom>
          <a:solidFill>
            <a:srgbClr val="0D1F3C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365760" y="4741164"/>
            <a:ext cx="2697480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75488" y="3383280"/>
            <a:ext cx="594360" cy="59436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419856"/>
            <a:ext cx="384048" cy="38404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4300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Навчальні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11430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місій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475488" y="4224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Завверши всі теми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291840" y="3200400"/>
            <a:ext cx="2697480" cy="1600200"/>
          </a:xfrm>
          <a:prstGeom prst="rect">
            <a:avLst/>
          </a:prstGeom>
          <a:solidFill>
            <a:srgbClr val="0D1F3C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3291840" y="4741164"/>
            <a:ext cx="2697480" cy="594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3401568" y="3383280"/>
            <a:ext cx="594360" cy="59436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419856"/>
            <a:ext cx="384048" cy="38404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06908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Стриківі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4069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місії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3401568" y="4224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днів поспіль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6217920" y="3200400"/>
            <a:ext cx="2697480" cy="1600200"/>
          </a:xfrm>
          <a:prstGeom prst="rect">
            <a:avLst/>
          </a:prstGeom>
          <a:solidFill>
            <a:srgbClr val="0D1F3C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217920" y="4741164"/>
            <a:ext cx="269748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327648" y="3383280"/>
            <a:ext cx="594360" cy="594360"/>
          </a:xfrm>
          <a:prstGeom prst="ellipse">
            <a:avLst/>
          </a:prstGeom>
          <a:solidFill>
            <a:srgbClr val="00D2FF">
              <a:alpha val="20000"/>
            </a:srgbClr>
          </a:solidFill>
          <a:ln w="12700">
            <a:solidFill>
              <a:srgbClr val="00D2FF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419856"/>
            <a:ext cx="384048" cy="38404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9516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Секретні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699516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місії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6327648" y="42245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61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6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1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73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fill="hold" grpId="1001">
                                  <p:stCondLst>
                                    <p:cond delay="2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1">
                                  <p:stCondLst>
                                    <p:cond delay="2380"/>
                                  </p:stCondLst>
                                  <p:childTnLst>
                                    <p:animScale>
                                      <p:cBhvr>
                                        <p:cTn id="1079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fill="hold" grpId="1001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1">
                                  <p:stCondLst>
                                    <p:cond delay="2660"/>
                                  </p:stCondLst>
                                  <p:childTnLst>
                                    <p:animScale>
                                      <p:cBhvr>
                                        <p:cTn id="1085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6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fill="hold" grpId="1001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9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1">
                                  <p:stCondLst>
                                    <p:cond delay="2940"/>
                                  </p:stCondLst>
                                  <p:childTnLst>
                                    <p:animScale>
                                      <p:cBhvr>
                                        <p:cTn id="1091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2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fill="hold" grpId="1001">
                                  <p:stCondLst>
                                    <p:cond delay="3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6" fill="hold" grpId="1001">
                                  <p:stCondLst>
                                    <p:cond delay="3220"/>
                                  </p:stCondLst>
                                  <p:childTnLst>
                                    <p:animScale>
                                      <p:cBhvr>
                                        <p:cTn id="1097" dur="50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8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fill="hold" grpId="1001">
                                  <p:stCondLst>
                                    <p:cond delay="3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0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1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2" fill="hold" grpId="1001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1103" dur="500" fill="hold"/>
                                        <p:tgtEl>
                                          <p:spTgt spid="3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4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fill="hold" grpId="1001">
                                  <p:stCondLst>
                                    <p:cond delay="36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6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7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8" fill="hold" grpId="1001">
                                  <p:stCondLst>
                                    <p:cond delay="3780"/>
                                  </p:stCondLst>
                                  <p:childTnLst>
                                    <p:animScale>
                                      <p:cBhvr>
                                        <p:cTn id="1109" dur="500" fill="hold"/>
                                        <p:tgtEl>
                                          <p:spTgt spid="3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0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1" fill="hold" grpId="1001">
                                  <p:stCondLst>
                                    <p:cond delay="39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2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3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4" fill="hold" grpId="1001">
                                  <p:stCondLst>
                                    <p:cond delay="4060"/>
                                  </p:stCondLst>
                                  <p:childTnLst>
                                    <p:animScale>
                                      <p:cBhvr>
                                        <p:cTn id="1115" dur="500" fill="hold"/>
                                        <p:tgtEl>
                                          <p:spTgt spid="3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6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7" fill="hold" grpId="1001">
                                  <p:stCondLst>
                                    <p:cond delay="4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8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9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0" fill="hold" grpId="1001">
                                  <p:stCondLst>
                                    <p:cond delay="4340"/>
                                  </p:stCondLst>
                                  <p:childTnLst>
                                    <p:animScale>
                                      <p:cBhvr>
                                        <p:cTn id="1121" dur="500" fill="hold"/>
                                        <p:tgtEl>
                                          <p:spTgt spid="4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2" dur="50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3" fill="hold" grpId="1001">
                                  <p:stCondLst>
                                    <p:cond delay="44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4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25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6" fill="hold" grpId="1001">
                                  <p:stCondLst>
                                    <p:cond delay="4620"/>
                                  </p:stCondLst>
                                  <p:childTnLst>
                                    <p:animScale>
                                      <p:cBhvr>
                                        <p:cTn id="1127" dur="500" fill="hold"/>
                                        <p:tgtEl>
                                          <p:spTgt spid="4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8" dur="50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9" fill="hold" grpId="1001">
                                  <p:stCondLst>
                                    <p:cond delay="47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0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31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2" fill="hold" grpId="1001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133" dur="500" fill="hold"/>
                                        <p:tgtEl>
                                          <p:spTgt spid="4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34" dur="50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5" fill="hold" grpId="1001">
                                  <p:stCondLst>
                                    <p:cond delay="50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6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37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8" fill="hold" grpId="1001">
                                  <p:stCondLst>
                                    <p:cond delay="5180"/>
                                  </p:stCondLst>
                                  <p:childTnLst>
                                    <p:animScale>
                                      <p:cBhvr>
                                        <p:cTn id="1139" dur="500" fill="hold"/>
                                        <p:tgtEl>
                                          <p:spTgt spid="4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40" dur="50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1" fill="hold" grpId="1001">
                                  <p:stCondLst>
                                    <p:cond delay="5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2" dur="50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43" dur="500" fill="hold"/>
                                        <p:tgtEl>
                                          <p:spTgt spid="4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4" fill="hold" grpId="1001">
                                  <p:stCondLst>
                                    <p:cond delay="5460"/>
                                  </p:stCondLst>
                                  <p:childTnLst>
                                    <p:animScale>
                                      <p:cBhvr>
                                        <p:cTn id="1145" dur="500" fill="hold"/>
                                        <p:tgtEl>
                                          <p:spTgt spid="4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46" dur="500" fill="hold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0"/>
            <a:ext cx="640080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900" dirty="0"/>
          </a:p>
        </p:txBody>
      </p:sp>
      <p:sp>
        <p:nvSpPr>
          <p:cNvPr id="6" name="Text 1"/>
          <p:cNvSpPr/>
          <p:nvPr/>
        </p:nvSpPr>
        <p:spPr>
          <a:xfrm>
            <a:off x="457200" y="594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Побудовано на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сучасних технологіях</a:t>
            </a:r>
            <a:endParaRPr lang="en-US" sz="34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27632"/>
            <a:ext cx="8229600" cy="5486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691640" y="2359152"/>
            <a:ext cx="502920" cy="22860"/>
          </a:xfrm>
          <a:prstGeom prst="rect">
            <a:avLst/>
          </a:prstGeom>
          <a:solidFill>
            <a:srgbClr val="7A9CC0">
              <a:alpha val="50000"/>
            </a:srgbClr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457200" y="19202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45720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5720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3429000" y="2359152"/>
            <a:ext cx="502920" cy="22860"/>
          </a:xfrm>
          <a:prstGeom prst="rect">
            <a:avLst/>
          </a:prstGeom>
          <a:solidFill>
            <a:srgbClr val="7A9CC0">
              <a:alpha val="50000"/>
            </a:srgbClr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2194560" y="19202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19456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219456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Стилізація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5166360" y="2359152"/>
            <a:ext cx="502920" cy="22860"/>
          </a:xfrm>
          <a:prstGeom prst="rect">
            <a:avLst/>
          </a:prstGeom>
          <a:solidFill>
            <a:srgbClr val="7A9CC0">
              <a:alpha val="50000"/>
            </a:srgbClr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931920" y="19202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9319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ES6+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93192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903720" y="2359152"/>
            <a:ext cx="502920" cy="22860"/>
          </a:xfrm>
          <a:prstGeom prst="rect">
            <a:avLst/>
          </a:prstGeom>
          <a:solidFill>
            <a:srgbClr val="7A9CC0">
              <a:alpha val="50000"/>
            </a:srgbClr>
          </a:solidFill>
          <a:ln w="12700">
            <a:solidFill>
              <a:srgbClr val="7A9CC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669280" y="19202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6692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6928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Графіка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06640" y="19202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D1F3C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4066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2D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40664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Мінігра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24612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3246120"/>
            <a:ext cx="192024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3337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1500+</a:t>
            </a:r>
            <a:endParaRPr lang="en-US" sz="3400" dirty="0"/>
          </a:p>
        </p:txBody>
      </p:sp>
      <p:sp>
        <p:nvSpPr>
          <p:cNvPr id="30" name="Text 24"/>
          <p:cNvSpPr/>
          <p:nvPr/>
        </p:nvSpPr>
        <p:spPr>
          <a:xfrm>
            <a:off x="45720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HTML/CSS</a:t>
            </a:r>
            <a:endParaRPr lang="en-US" sz="1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528" y="3291840"/>
            <a:ext cx="320040" cy="32004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2606040" y="324612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606040" y="3246120"/>
            <a:ext cx="192024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2606040" y="3337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2200+</a:t>
            </a:r>
            <a:endParaRPr lang="en-US" sz="3400" dirty="0"/>
          </a:p>
        </p:txBody>
      </p:sp>
      <p:sp>
        <p:nvSpPr>
          <p:cNvPr id="35" name="Text 28"/>
          <p:cNvSpPr/>
          <p:nvPr/>
        </p:nvSpPr>
        <p:spPr>
          <a:xfrm>
            <a:off x="260604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JavaScript</a:t>
            </a:r>
            <a:endParaRPr lang="en-US" sz="1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368" y="3291840"/>
            <a:ext cx="320040" cy="32004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754880" y="324612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4754880" y="3246120"/>
            <a:ext cx="1920240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754880" y="3337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60fps</a:t>
            </a:r>
            <a:endParaRPr lang="en-US" sz="3400" dirty="0"/>
          </a:p>
        </p:txBody>
      </p:sp>
      <p:sp>
        <p:nvSpPr>
          <p:cNvPr id="40" name="Text 32"/>
          <p:cNvSpPr/>
          <p:nvPr/>
        </p:nvSpPr>
        <p:spPr>
          <a:xfrm>
            <a:off x="475488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рендеринг</a:t>
            </a:r>
            <a:endParaRPr lang="en-US" sz="10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3291840"/>
            <a:ext cx="320040" cy="32004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6903720" y="3246120"/>
            <a:ext cx="1920240" cy="1600200"/>
          </a:xfrm>
          <a:prstGeom prst="rect">
            <a:avLst/>
          </a:prstGeom>
          <a:solidFill>
            <a:srgbClr val="0D1F3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6903720" y="3246120"/>
            <a:ext cx="1920240" cy="594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903720" y="3337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45" name="Text 36"/>
          <p:cNvSpPr/>
          <p:nvPr/>
        </p:nvSpPr>
        <p:spPr>
          <a:xfrm>
            <a:off x="690372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Адаптивний дизайн</a:t>
            </a:r>
            <a:endParaRPr lang="en-US" sz="1000" dirty="0"/>
          </a:p>
        </p:txBody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3291840"/>
            <a:ext cx="320040" cy="3200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61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6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1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73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fill="hold" grpId="1001">
                                  <p:stCondLst>
                                    <p:cond delay="2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1">
                                  <p:stCondLst>
                                    <p:cond delay="2380"/>
                                  </p:stCondLst>
                                  <p:childTnLst>
                                    <p:animScale>
                                      <p:cBhvr>
                                        <p:cTn id="1079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fill="hold" grpId="1001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1">
                                  <p:stCondLst>
                                    <p:cond delay="2660"/>
                                  </p:stCondLst>
                                  <p:childTnLst>
                                    <p:animScale>
                                      <p:cBhvr>
                                        <p:cTn id="1085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6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fill="hold" grpId="1001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9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1">
                                  <p:stCondLst>
                                    <p:cond delay="2940"/>
                                  </p:stCondLst>
                                  <p:childTnLst>
                                    <p:animScale>
                                      <p:cBhvr>
                                        <p:cTn id="1091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2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fill="hold" grpId="1001">
                                  <p:stCondLst>
                                    <p:cond delay="3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6" fill="hold" grpId="1001">
                                  <p:stCondLst>
                                    <p:cond delay="3220"/>
                                  </p:stCondLst>
                                  <p:childTnLst>
                                    <p:animScale>
                                      <p:cBhvr>
                                        <p:cTn id="1097" dur="50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8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fill="hold" grpId="1001">
                                  <p:stCondLst>
                                    <p:cond delay="3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0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1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2" fill="hold" grpId="1001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1103" dur="500" fill="hold"/>
                                        <p:tgtEl>
                                          <p:spTgt spid="3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4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fill="hold" grpId="1001">
                                  <p:stCondLst>
                                    <p:cond delay="36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6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7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8" fill="hold" grpId="1001">
                                  <p:stCondLst>
                                    <p:cond delay="3780"/>
                                  </p:stCondLst>
                                  <p:childTnLst>
                                    <p:animScale>
                                      <p:cBhvr>
                                        <p:cTn id="1109" dur="500" fill="hold"/>
                                        <p:tgtEl>
                                          <p:spTgt spid="3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0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1" fill="hold" grpId="1001">
                                  <p:stCondLst>
                                    <p:cond delay="39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2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3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4" fill="hold" grpId="1001">
                                  <p:stCondLst>
                                    <p:cond delay="4060"/>
                                  </p:stCondLst>
                                  <p:childTnLst>
                                    <p:animScale>
                                      <p:cBhvr>
                                        <p:cTn id="1115" dur="500" fill="hold"/>
                                        <p:tgtEl>
                                          <p:spTgt spid="3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16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7" fill="hold" grpId="1001">
                                  <p:stCondLst>
                                    <p:cond delay="4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8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19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0" fill="hold" grpId="1001">
                                  <p:stCondLst>
                                    <p:cond delay="4340"/>
                                  </p:stCondLst>
                                  <p:childTnLst>
                                    <p:animScale>
                                      <p:cBhvr>
                                        <p:cTn id="1121" dur="500" fill="hold"/>
                                        <p:tgtEl>
                                          <p:spTgt spid="4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2" dur="50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3" fill="hold" grpId="1001">
                                  <p:stCondLst>
                                    <p:cond delay="44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4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25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6" fill="hold" grpId="1001">
                                  <p:stCondLst>
                                    <p:cond delay="4620"/>
                                  </p:stCondLst>
                                  <p:childTnLst>
                                    <p:animScale>
                                      <p:cBhvr>
                                        <p:cTn id="1127" dur="500" fill="hold"/>
                                        <p:tgtEl>
                                          <p:spTgt spid="4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28" dur="50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9" fill="hold" grpId="1001">
                                  <p:stCondLst>
                                    <p:cond delay="47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0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31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2" fill="hold" grpId="1001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133" dur="500" fill="hold"/>
                                        <p:tgtEl>
                                          <p:spTgt spid="4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34" dur="50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5" fill="hold" grpId="1001">
                                  <p:stCondLst>
                                    <p:cond delay="50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6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37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30810">
              <a:alpha val="90000"/>
            </a:srgbClr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544568" y="0"/>
            <a:ext cx="54864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3657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ДИЗАЙН-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ФІЛОСОФІЯ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457200" y="1828800"/>
            <a:ext cx="9144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Темний як космос.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Чіткий як зорі.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Живий як всесвіт.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020408"/>
          </a:solidFill>
          <a:ln w="6350">
            <a:solidFill>
              <a:srgbClr val="7A9CC0">
                <a:alpha val="5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#020408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1143000" y="3200400"/>
            <a:ext cx="548640" cy="548640"/>
          </a:xfrm>
          <a:prstGeom prst="ellipse">
            <a:avLst/>
          </a:prstGeom>
          <a:solidFill>
            <a:srgbClr val="00D2FF"/>
          </a:solidFill>
          <a:ln w="6350">
            <a:solidFill>
              <a:srgbClr val="7A9CC0">
                <a:alpha val="5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51560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#00D2FF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1828800" y="3200400"/>
            <a:ext cx="548640" cy="548640"/>
          </a:xfrm>
          <a:prstGeom prst="ellipse">
            <a:avLst/>
          </a:prstGeom>
          <a:solidFill>
            <a:srgbClr val="A855F7"/>
          </a:solidFill>
          <a:ln w="6350">
            <a:solidFill>
              <a:srgbClr val="7A9CC0">
                <a:alpha val="5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37360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#A855F7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514600" y="3200400"/>
            <a:ext cx="548640" cy="548640"/>
          </a:xfrm>
          <a:prstGeom prst="ellipse">
            <a:avLst/>
          </a:prstGeom>
          <a:solidFill>
            <a:srgbClr val="F97316"/>
          </a:solidFill>
          <a:ln w="6350">
            <a:solidFill>
              <a:srgbClr val="7A9CC0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23160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#F97316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200400" y="3200400"/>
            <a:ext cx="548640" cy="548640"/>
          </a:xfrm>
          <a:prstGeom prst="ellipse">
            <a:avLst/>
          </a:prstGeom>
          <a:solidFill>
            <a:srgbClr val="F43F5E"/>
          </a:solidFill>
          <a:ln w="6350">
            <a:solidFill>
              <a:srgbClr val="7A9CC0">
                <a:alpha val="5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08960" y="3840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#F43F5E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4846320" y="530352"/>
            <a:ext cx="502920" cy="50292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56692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86400" y="493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Темний режим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0" y="8046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екрани в dark-mode — менше втоми, більше занурення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46320" y="1627632"/>
            <a:ext cx="502920" cy="50292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64208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15910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0" y="19019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Напівпрозорі картки та blur-ефекти для глибини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846320" y="2724912"/>
            <a:ext cx="502920" cy="50292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761488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0" y="26883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Акцентні кольори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86400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+ Purple + Orange — космічна трикольорова схема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846320" y="3822192"/>
            <a:ext cx="502920" cy="502920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5876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856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Шрифти Exo 2 + Rajdhani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86400" y="4096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 характер з відмінною читабельністю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61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6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1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73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fill="hold" grpId="1001">
                                  <p:stCondLst>
                                    <p:cond delay="2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1">
                                  <p:stCondLst>
                                    <p:cond delay="2380"/>
                                  </p:stCondLst>
                                  <p:childTnLst>
                                    <p:animScale>
                                      <p:cBhvr>
                                        <p:cTn id="1079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fill="hold" grpId="1001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1">
                                  <p:stCondLst>
                                    <p:cond delay="2660"/>
                                  </p:stCondLst>
                                  <p:childTnLst>
                                    <p:animScale>
                                      <p:cBhvr>
                                        <p:cTn id="1085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6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fill="hold" grpId="1001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9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1">
                                  <p:stCondLst>
                                    <p:cond delay="2940"/>
                                  </p:stCondLst>
                                  <p:childTnLst>
                                    <p:animScale>
                                      <p:cBhvr>
                                        <p:cTn id="1091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2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fill="hold" grpId="1001">
                                  <p:stCondLst>
                                    <p:cond delay="3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6" fill="hold" grpId="1001">
                                  <p:stCondLst>
                                    <p:cond delay="3220"/>
                                  </p:stCondLst>
                                  <p:childTnLst>
                                    <p:animScale>
                                      <p:cBhvr>
                                        <p:cTn id="1097" dur="50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8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fill="hold" grpId="1001">
                                  <p:stCondLst>
                                    <p:cond delay="3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0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1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КАЖУТЬ КОРИСТУВАЧІ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548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Соціальний доказ</a:t>
            </a:r>
            <a:endParaRPr lang="en-US" sz="3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229600" cy="5486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65760" y="1371600"/>
            <a:ext cx="2651760" cy="3383280"/>
          </a:xfrm>
          <a:prstGeom prst="rect">
            <a:avLst/>
          </a:prstGeom>
          <a:solidFill>
            <a:srgbClr val="0D1F3C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365760" y="1371600"/>
            <a:ext cx="2651760" cy="59436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2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5200" dirty="0"/>
          </a:p>
        </p:txBody>
      </p:sp>
      <p:sp>
        <p:nvSpPr>
          <p:cNvPr id="11" name="Text 6"/>
          <p:cNvSpPr/>
          <p:nvPr/>
        </p:nvSpPr>
        <p:spPr>
          <a:xfrm>
            <a:off x="50292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0292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"Нарешті навчання, яке не нудить — граю та вчусь одночасно!"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0292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Олег К., студент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291840" y="1371600"/>
            <a:ext cx="2651760" cy="3383280"/>
          </a:xfrm>
          <a:prstGeom prst="rect">
            <a:avLst/>
          </a:prstGeom>
          <a:solidFill>
            <a:srgbClr val="0D1F3C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291840" y="1371600"/>
            <a:ext cx="2651760" cy="5943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42900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A855F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5200" dirty="0"/>
          </a:p>
        </p:txBody>
      </p:sp>
      <p:sp>
        <p:nvSpPr>
          <p:cNvPr id="17" name="Text 12"/>
          <p:cNvSpPr/>
          <p:nvPr/>
        </p:nvSpPr>
        <p:spPr>
          <a:xfrm>
            <a:off x="342900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42900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"Зоряне поле та анімації — це просто wow. Сиджу і дивлюсь!"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42900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Марина В., дизайнер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17920" y="1371600"/>
            <a:ext cx="2651760" cy="3383280"/>
          </a:xfrm>
          <a:prstGeom prst="rect">
            <a:avLst/>
          </a:prstGeom>
          <a:solidFill>
            <a:srgbClr val="0D1F3C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17920" y="1371600"/>
            <a:ext cx="265176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5508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731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5200" dirty="0"/>
          </a:p>
        </p:txBody>
      </p:sp>
      <p:sp>
        <p:nvSpPr>
          <p:cNvPr id="23" name="Text 18"/>
          <p:cNvSpPr/>
          <p:nvPr/>
        </p:nvSpPr>
        <p:spPr>
          <a:xfrm>
            <a:off x="6355080" y="2057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55080" y="2423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"XP-система тягне щодня заходити. Вже Admiral ранг — не зупинюсь!"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35508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Іван Т., розробник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61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6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1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73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0"/>
            <a:ext cx="6400800" cy="5143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МАЙБУТНЄ COSMOS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457200" y="5669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буде далі?</a:t>
            </a:r>
            <a:endParaRPr lang="en-US" sz="36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07008"/>
            <a:ext cx="8229600" cy="54864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457200" y="1463040"/>
            <a:ext cx="8229600" cy="713232"/>
          </a:xfrm>
          <a:prstGeom prst="rect">
            <a:avLst/>
          </a:prstGeom>
          <a:solidFill>
            <a:srgbClr val="0D1F3C"/>
          </a:solidFill>
          <a:ln w="12700">
            <a:solidFill>
              <a:srgbClr val="00D2FF">
                <a:alpha val="7000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457200" y="1463040"/>
            <a:ext cx="41148" cy="713232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594360" y="1627632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00D2FF">
              <a:alpha val="25000"/>
            </a:srgbClr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594360" y="16276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173736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Мобільна версія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737360" y="1874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для iOS та Android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731520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57200" y="2322576"/>
            <a:ext cx="8229600" cy="713232"/>
          </a:xfrm>
          <a:prstGeom prst="rect">
            <a:avLst/>
          </a:prstGeom>
          <a:solidFill>
            <a:srgbClr val="0D1F3C">
              <a:alpha val="88000"/>
            </a:srgbClr>
          </a:solidFill>
          <a:ln w="12700">
            <a:solidFill>
              <a:srgbClr val="A855F7">
                <a:alpha val="7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57200" y="2322576"/>
            <a:ext cx="41148" cy="7132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94360" y="2487168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94360" y="24871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1737360" y="24140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Мультиплеєр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737360" y="2734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час, PvP-хвилі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315200" y="2487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182112"/>
            <a:ext cx="8229600" cy="713232"/>
          </a:xfrm>
          <a:prstGeom prst="rect">
            <a:avLst/>
          </a:prstGeom>
          <a:solidFill>
            <a:srgbClr val="0D1F3C">
              <a:alpha val="76000"/>
            </a:srgbClr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3182112"/>
            <a:ext cx="4114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4360" y="3346704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" y="33467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737360" y="32735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AI-генерація місій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737360" y="35935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Унікальні завдання для кожного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315200" y="33467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4041648"/>
            <a:ext cx="8229600" cy="713232"/>
          </a:xfrm>
          <a:prstGeom prst="rect">
            <a:avLst/>
          </a:prstGeom>
          <a:solidFill>
            <a:srgbClr val="0D1F3C">
              <a:alpha val="64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7200" y="4041648"/>
            <a:ext cx="41148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94360" y="420624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9436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737360" y="4133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Соціальні функції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1737360" y="4453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Клани, командні рейтинги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7315200" y="4206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0" fill="hold" grpId="1001">
                                  <p:stCondLst>
                                    <p:cond delay="1540"/>
                                  </p:stCondLst>
                                  <p:childTnLst>
                                    <p:animScale>
                                      <p:cBhvr>
                                        <p:cTn id="1061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fill="hold" grpId="1001">
                                  <p:stCondLst>
                                    <p:cond delay="16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4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6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6" fill="hold" grpId="1001">
                                  <p:stCondLst>
                                    <p:cond delay="1820"/>
                                  </p:stCondLst>
                                  <p:childTnLst>
                                    <p:animScale>
                                      <p:cBhvr>
                                        <p:cTn id="1067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6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fill="hold" grpId="1001">
                                  <p:stCondLst>
                                    <p:cond delay="19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1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2" fill="hold" grpId="1001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1073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74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fill="hold" grpId="1001">
                                  <p:stCondLst>
                                    <p:cond delay="22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6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7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8" fill="hold" grpId="1001">
                                  <p:stCondLst>
                                    <p:cond delay="2380"/>
                                  </p:stCondLst>
                                  <p:childTnLst>
                                    <p:animScale>
                                      <p:cBhvr>
                                        <p:cTn id="1079" dur="500" fill="hold"/>
                                        <p:tgtEl>
                                          <p:spTgt spid="2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fill="hold" grpId="1001">
                                  <p:stCondLst>
                                    <p:cond delay="25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2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3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4" fill="hold" grpId="1001">
                                  <p:stCondLst>
                                    <p:cond delay="2660"/>
                                  </p:stCondLst>
                                  <p:childTnLst>
                                    <p:animScale>
                                      <p:cBhvr>
                                        <p:cTn id="1085" dur="500" fill="hold"/>
                                        <p:tgtEl>
                                          <p:spTgt spid="2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86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fill="hold" grpId="1001">
                                  <p:stCondLst>
                                    <p:cond delay="28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8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89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0" fill="hold" grpId="1001">
                                  <p:stCondLst>
                                    <p:cond delay="2940"/>
                                  </p:stCondLst>
                                  <p:childTnLst>
                                    <p:animScale>
                                      <p:cBhvr>
                                        <p:cTn id="1091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2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fill="hold" grpId="1001">
                                  <p:stCondLst>
                                    <p:cond delay="30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4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95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6" fill="hold" grpId="1001">
                                  <p:stCondLst>
                                    <p:cond delay="3220"/>
                                  </p:stCondLst>
                                  <p:childTnLst>
                                    <p:animScale>
                                      <p:cBhvr>
                                        <p:cTn id="1097" dur="500" fill="hold"/>
                                        <p:tgtEl>
                                          <p:spTgt spid="3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98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fill="hold" grpId="1001">
                                  <p:stCondLst>
                                    <p:cond delay="33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0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1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2" fill="hold" grpId="1001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1103" dur="500" fill="hold"/>
                                        <p:tgtEl>
                                          <p:spTgt spid="3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104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fill="hold" grpId="1001">
                                  <p:stCondLst>
                                    <p:cond delay="36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6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107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-914400"/>
            <a:ext cx="5486400" cy="6400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0"/>
            <a:ext cx="73152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0" y="1828800"/>
            <a:ext cx="6400800" cy="54864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810">
              <a:alpha val="70000"/>
            </a:srgbClr>
          </a:solidFill>
          <a:ln w="12700">
            <a:solidFill>
              <a:srgbClr val="020408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274320"/>
            <a:ext cx="822960" cy="8229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0" y="11887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ГОТОВИЙ ДО ПОЛЬОТУ?</a:t>
            </a:r>
            <a:endParaRPr lang="en-US" sz="1100" dirty="0"/>
          </a:p>
        </p:txBody>
      </p:sp>
      <p:sp>
        <p:nvSpPr>
          <p:cNvPr id="11" name="Text 4"/>
          <p:cNvSpPr/>
          <p:nvPr/>
        </p:nvSpPr>
        <p:spPr>
          <a:xfrm>
            <a:off x="0" y="1664208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Долучайся до</a:t>
            </a:r>
            <a:endParaRPr lang="en-US" sz="6200" dirty="0"/>
          </a:p>
          <a:p>
            <a:pPr algn="ctr" indent="0" marL="0">
              <a:buNone/>
            </a:pPr>
            <a:r>
              <a:rPr lang="en-US" sz="6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62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017520"/>
            <a:ext cx="7315200" cy="7315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0" y="31821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Твій космічний провідник чекає</a:t>
            </a:r>
            <a:endParaRPr lang="en-US" sz="1800" dirty="0"/>
          </a:p>
        </p:txBody>
      </p:sp>
      <p:sp>
        <p:nvSpPr>
          <p:cNvPr id="14" name="Shape 6"/>
          <p:cNvSpPr/>
          <p:nvPr/>
        </p:nvSpPr>
        <p:spPr>
          <a:xfrm>
            <a:off x="914400" y="3749040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00D2FF">
              <a:alpha val="25000"/>
            </a:srgbClr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91440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Запустити Cosmos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3474720" y="3749040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F97316">
              <a:alpha val="2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347472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Поставити зірку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035040" y="3749040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A855F7">
              <a:alpha val="25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6035040" y="3749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Почати місію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v4.5  ·  Космічний Провідник  ·  2025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fill="hold" grpId="100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6" dur="4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fill="hold" grpId="1000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8" dur="4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0" dur="4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1" fill="hold" grpId="1000">
                                  <p:stCondLst>
                                    <p:cond delay="2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2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4" fill="hold" grpId="1000">
                                  <p:stCondLst>
                                    <p:cond delay="3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17" fill="hold" grpId="1000">
                                  <p:stCondLst>
                                    <p:cond delay="4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8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19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0" fill="hold" grpId="1000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 0.05 L 0 0 E">
                                      <p:cBhvr>
                                        <p:cTn id="1022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3" fill="hold" grpId="1000">
                                  <p:stCondLst>
                                    <p:cond delay="600"/>
                                  </p:stCondLst>
                                  <p:childTnLst>
                                    <p:animEffect transition="in" filter="wipe(dir=r)">
                                      <p:cBhvr>
                                        <p:cTn id="1024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fill="hold">
                      <p:stCondLst>
                        <p:cond delay="indefinite"/>
                      </p:stCondLst>
                      <p:childTnLst>
                        <p:par>
                          <p:cTn id="1026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fill="hold" grpId="100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29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0" fill="hold" grpId="1001">
                                  <p:stCondLst>
                                    <p:cond delay="140"/>
                                  </p:stCondLst>
                                  <p:childTnLst>
                                    <p:animScale>
                                      <p:cBhvr>
                                        <p:cTn id="1031" dur="500" fill="hold"/>
                                        <p:tgtEl>
                                          <p:spTgt spid="11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2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fill="hold" grpId="1001">
                                  <p:stCondLst>
                                    <p:cond delay="2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4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3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6" fill="hold" grpId="1001">
                                  <p:stCondLst>
                                    <p:cond delay="420"/>
                                  </p:stCondLst>
                                  <p:childTnLst>
                                    <p:animScale>
                                      <p:cBhvr>
                                        <p:cTn id="1037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38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fill="hold" grpId="1001">
                                  <p:stCondLst>
                                    <p:cond delay="56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0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2" fill="hold" grpId="1001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1043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44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fill="hold" grpId="1001">
                                  <p:stCondLst>
                                    <p:cond delay="8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6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47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48" fill="hold" grpId="1001">
                                  <p:stCondLst>
                                    <p:cond delay="980"/>
                                  </p:stCondLst>
                                  <p:childTnLst>
                                    <p:animScale>
                                      <p:cBhvr>
                                        <p:cTn id="104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fill="hold" grpId="1001">
                                  <p:stCondLst>
                                    <p:cond delay="1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4" fill="hold" grpId="1001">
                                  <p:stCondLst>
                                    <p:cond delay="1260"/>
                                  </p:stCondLst>
                                  <p:childTnLst>
                                    <p:animScale>
                                      <p:cBhvr>
                                        <p:cTn id="1055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by x="16000" y="16000"/>
                                      <p:to x="100000" y="100000"/>
                                    </p:animScale>
                                    <p:animEffect transition="in" filter="fade">
                                      <p:cBhvr>
                                        <p:cTn id="105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fill="hold" grpId="1001">
                                  <p:stCondLst>
                                    <p:cond delay="14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8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Motion origin="layout" path="M 0 0.12 L 0 0 E">
                                      <p:cBhvr>
                                        <p:cTn id="105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n val="0"/>
                </p:cond>
              </p:nextCondLst>
              <p:prevCondLst>
                <p:cond evt="onPrev" delay="0">
                  <p:tn val="0"/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2026-06-03T16:58:53Z</dcterms:created>
  <dcterms:modified xsi:type="dcterms:W3CDTF">2026-06-03T16:58:53Z</dcterms:modified>
</cp:coreProperties>
</file>